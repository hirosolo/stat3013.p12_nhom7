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handoutMasterIdLst>
    <p:handoutMasterId r:id="rId26"/>
  </p:handoutMasterIdLst>
  <p:sldIdLst>
    <p:sldId id="256" r:id="rId2"/>
    <p:sldId id="257" r:id="rId3"/>
    <p:sldId id="280" r:id="rId4"/>
    <p:sldId id="279" r:id="rId5"/>
    <p:sldId id="281" r:id="rId6"/>
    <p:sldId id="282" r:id="rId7"/>
    <p:sldId id="290" r:id="rId8"/>
    <p:sldId id="283" r:id="rId9"/>
    <p:sldId id="284" r:id="rId10"/>
    <p:sldId id="285" r:id="rId11"/>
    <p:sldId id="288" r:id="rId12"/>
    <p:sldId id="303" r:id="rId13"/>
    <p:sldId id="289" r:id="rId14"/>
    <p:sldId id="301" r:id="rId15"/>
    <p:sldId id="304" r:id="rId16"/>
    <p:sldId id="305" r:id="rId17"/>
    <p:sldId id="308" r:id="rId18"/>
    <p:sldId id="313" r:id="rId19"/>
    <p:sldId id="314" r:id="rId20"/>
    <p:sldId id="307" r:id="rId21"/>
    <p:sldId id="287" r:id="rId22"/>
    <p:sldId id="276" r:id="rId23"/>
    <p:sldId id="315" r:id="rId24"/>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C6233"/>
    <a:srgbClr val="5B19EC"/>
    <a:srgbClr val="1C334E"/>
    <a:srgbClr val="FC450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22" autoAdjust="0"/>
  </p:normalViewPr>
  <p:slideViewPr>
    <p:cSldViewPr>
      <p:cViewPr varScale="1">
        <p:scale>
          <a:sx n="57" d="100"/>
          <a:sy n="57" d="100"/>
        </p:scale>
        <p:origin x="345" y="33"/>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1E519DE-DE8D-6F7B-8F1F-847458E024D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4C32EA0-476D-1C4B-5622-CDC7620051F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D755417-64F5-42C6-9054-32FE437DB2E8}" type="datetimeFigureOut">
              <a:rPr lang="en-US" smtClean="0"/>
              <a:t>11/18/2024</a:t>
            </a:fld>
            <a:endParaRPr lang="en-US"/>
          </a:p>
        </p:txBody>
      </p:sp>
      <p:sp>
        <p:nvSpPr>
          <p:cNvPr id="4" name="Footer Placeholder 3">
            <a:extLst>
              <a:ext uri="{FF2B5EF4-FFF2-40B4-BE49-F238E27FC236}">
                <a16:creationId xmlns:a16="http://schemas.microsoft.com/office/drawing/2014/main" id="{5B3A3A42-6813-6BBA-9802-5210E33799D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96DFD6F-7DCB-9E8A-7251-FBBE5F10A24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838737-75D2-4EA5-B6F1-EDA85E551C81}" type="slidenum">
              <a:rPr lang="en-US" smtClean="0"/>
              <a:t>‹#›</a:t>
            </a:fld>
            <a:endParaRPr lang="en-US"/>
          </a:p>
        </p:txBody>
      </p:sp>
    </p:spTree>
    <p:extLst>
      <p:ext uri="{BB962C8B-B14F-4D97-AF65-F5344CB8AC3E}">
        <p14:creationId xmlns:p14="http://schemas.microsoft.com/office/powerpoint/2010/main" val="387475275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7008F43-2E21-47F6-A256-D43C10A55F37}" type="datetimeFigureOut">
              <a:rPr lang="en-US" smtClean="0"/>
              <a:t>11/18/2024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18BAC8-7BE6-4E83-80F2-91753A4A5C4E}" type="slidenum">
              <a:rPr lang="en-US" smtClean="0"/>
              <a:t>‹#›</a:t>
            </a:fld>
            <a:endParaRPr lang="en-US"/>
          </a:p>
        </p:txBody>
      </p:sp>
    </p:spTree>
    <p:extLst>
      <p:ext uri="{BB962C8B-B14F-4D97-AF65-F5344CB8AC3E}">
        <p14:creationId xmlns:p14="http://schemas.microsoft.com/office/powerpoint/2010/main" val="321176426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48DB669-AC82-425A-A6F9-722C511EE0F7}" type="datetime1">
              <a:rPr lang="en-US" smtClean="0"/>
              <a:t>11/18/2024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1CD35D3-9F6A-40FA-9748-67176426F2C1}" type="datetime1">
              <a:rPr lang="en-US" smtClean="0"/>
              <a:t>11/18/2024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29392C-B525-4FDB-9D96-89E0D1DE2415}" type="datetime1">
              <a:rPr lang="en-US" smtClean="0"/>
              <a:t>11/18/2024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DCBE9BD-60D5-419E-8503-7B358465F8FF}" type="datetime1">
              <a:rPr lang="en-US" smtClean="0"/>
              <a:t>11/18/2024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E76F6B-7554-4AAE-9335-900FD873758A}" type="datetime1">
              <a:rPr lang="en-US" smtClean="0"/>
              <a:t>11/18/2024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34FA7D-34F7-4C3F-B8A7-F703F274FC42}" type="datetime1">
              <a:rPr lang="en-US" smtClean="0"/>
              <a:t>11/18/2024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D590252-61C1-41AE-AA2F-C7B1E458BD19}" type="datetime1">
              <a:rPr lang="en-US" smtClean="0"/>
              <a:t>11/18/2024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8E4E77-E312-49EF-8FF1-7B726160AFE6}" type="datetime1">
              <a:rPr lang="en-US" smtClean="0"/>
              <a:t>11/18/2024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FBA4F57-EC51-47D3-A19F-51AFF4E9BC95}" type="datetime1">
              <a:rPr lang="en-US" smtClean="0"/>
              <a:t>11/18/2024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50C7A73-6B44-42DC-A79C-674CE90D0EE9}" type="datetime1">
              <a:rPr lang="en-US" smtClean="0"/>
              <a:t>11/18/2024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D81EB53-2E26-48FD-8DAF-E083C31DD16E}" type="datetime1">
              <a:rPr lang="en-US" smtClean="0"/>
              <a:t>11/18/2024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D470E48-0B71-4B49-9607-F32AFA97CE6B}" type="datetime1">
              <a:rPr lang="en-US" smtClean="0"/>
              <a:t>11/18/2024</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10.jpg"/><Relationship Id="rId4" Type="http://schemas.openxmlformats.org/officeDocument/2006/relationships/image" Target="../media/image9.jpg"/></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0" y="9256510"/>
            <a:ext cx="18288000" cy="1030490"/>
            <a:chOff x="0" y="0"/>
            <a:chExt cx="4816593" cy="271405"/>
          </a:xfrm>
          <a:solidFill>
            <a:srgbClr val="FC6233"/>
          </a:solidFill>
        </p:grpSpPr>
        <p:sp>
          <p:nvSpPr>
            <p:cNvPr id="4" name="Freeform 4"/>
            <p:cNvSpPr/>
            <p:nvPr/>
          </p:nvSpPr>
          <p:spPr>
            <a:xfrm>
              <a:off x="0" y="0"/>
              <a:ext cx="4816592" cy="271405"/>
            </a:xfrm>
            <a:custGeom>
              <a:avLst/>
              <a:gdLst/>
              <a:ahLst/>
              <a:cxnLst/>
              <a:rect l="l" t="t" r="r" b="b"/>
              <a:pathLst>
                <a:path w="4816592" h="271405">
                  <a:moveTo>
                    <a:pt x="0" y="0"/>
                  </a:moveTo>
                  <a:lnTo>
                    <a:pt x="4816592" y="0"/>
                  </a:lnTo>
                  <a:lnTo>
                    <a:pt x="4816592" y="271405"/>
                  </a:lnTo>
                  <a:lnTo>
                    <a:pt x="0" y="271405"/>
                  </a:lnTo>
                  <a:close/>
                </a:path>
              </a:pathLst>
            </a:custGeom>
            <a:grpFill/>
          </p:spPr>
          <p:txBody>
            <a:bodyPr/>
            <a:lstStyle/>
            <a:p>
              <a:endParaRPr lang="en-US">
                <a:latin typeface="Times New Roman" panose="02020603050405020304" pitchFamily="18" charset="0"/>
                <a:cs typeface="Times New Roman" panose="02020603050405020304" pitchFamily="18" charset="0"/>
              </a:endParaRPr>
            </a:p>
          </p:txBody>
        </p:sp>
        <p:sp>
          <p:nvSpPr>
            <p:cNvPr id="5" name="TextBox 5"/>
            <p:cNvSpPr txBox="1"/>
            <p:nvPr/>
          </p:nvSpPr>
          <p:spPr>
            <a:xfrm>
              <a:off x="0" y="0"/>
              <a:ext cx="4816593" cy="271405"/>
            </a:xfrm>
            <a:prstGeom prst="rect">
              <a:avLst/>
            </a:prstGeom>
            <a:grpFill/>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6" name="TextBox 6"/>
          <p:cNvSpPr txBox="1"/>
          <p:nvPr/>
        </p:nvSpPr>
        <p:spPr>
          <a:xfrm>
            <a:off x="2133600" y="419100"/>
            <a:ext cx="14020800" cy="2784095"/>
          </a:xfrm>
          <a:prstGeom prst="rect">
            <a:avLst/>
          </a:prstGeom>
        </p:spPr>
        <p:txBody>
          <a:bodyPr wrap="square" lIns="0" tIns="0" rIns="0" bIns="0" rtlCol="0" anchor="t">
            <a:spAutoFit/>
          </a:bodyPr>
          <a:lstStyle/>
          <a:p>
            <a:pPr algn="ctr">
              <a:lnSpc>
                <a:spcPts val="11492"/>
              </a:lnSpc>
            </a:pPr>
            <a:r>
              <a:rPr lang="en-US" sz="7000" b="1" spc="459" dirty="0">
                <a:solidFill>
                  <a:srgbClr val="FC6233"/>
                </a:solidFill>
                <a:latin typeface="Times New Roman" panose="02020603050405020304" pitchFamily="18" charset="0"/>
                <a:ea typeface="Maragsa"/>
                <a:cs typeface="Times New Roman" panose="02020603050405020304" pitchFamily="18" charset="0"/>
                <a:sym typeface="Maragsa"/>
              </a:rPr>
              <a:t>Demand Forecasting</a:t>
            </a:r>
            <a:br>
              <a:rPr lang="en-US" sz="7000" b="1" spc="459" dirty="0">
                <a:solidFill>
                  <a:srgbClr val="FC6233"/>
                </a:solidFill>
                <a:latin typeface="Times New Roman" panose="02020603050405020304" pitchFamily="18" charset="0"/>
                <a:ea typeface="Maragsa"/>
                <a:cs typeface="Times New Roman" panose="02020603050405020304" pitchFamily="18" charset="0"/>
                <a:sym typeface="Maragsa"/>
              </a:rPr>
            </a:br>
            <a:r>
              <a:rPr lang="en-US" sz="7000" b="1" spc="459" dirty="0">
                <a:solidFill>
                  <a:srgbClr val="FC6233"/>
                </a:solidFill>
                <a:latin typeface="Times New Roman" panose="02020603050405020304" pitchFamily="18" charset="0"/>
                <a:ea typeface="Maragsa"/>
                <a:cs typeface="Times New Roman" panose="02020603050405020304" pitchFamily="18" charset="0"/>
                <a:sym typeface="Maragsa"/>
              </a:rPr>
              <a:t>in the Food Delivery Industry</a:t>
            </a:r>
          </a:p>
        </p:txBody>
      </p:sp>
      <p:sp>
        <p:nvSpPr>
          <p:cNvPr id="7" name="TextBox 7"/>
          <p:cNvSpPr txBox="1"/>
          <p:nvPr/>
        </p:nvSpPr>
        <p:spPr>
          <a:xfrm>
            <a:off x="0" y="9544916"/>
            <a:ext cx="18288000" cy="467885"/>
          </a:xfrm>
          <a:prstGeom prst="rect">
            <a:avLst/>
          </a:prstGeom>
        </p:spPr>
        <p:txBody>
          <a:bodyPr wrap="square" lIns="0" tIns="0" rIns="0" bIns="0" rtlCol="0" anchor="t">
            <a:spAutoFit/>
          </a:bodyPr>
          <a:lstStyle/>
          <a:p>
            <a:pPr algn="ctr">
              <a:lnSpc>
                <a:spcPts val="3840"/>
              </a:lnSpc>
            </a:pPr>
            <a:r>
              <a:rPr lang="en-US" sz="3000" dirty="0">
                <a:solidFill>
                  <a:srgbClr val="F8ECEA"/>
                </a:solidFill>
                <a:effectLst>
                  <a:outerShdw blurRad="38100" dist="38100" dir="2700000" algn="tl">
                    <a:srgbClr val="000000">
                      <a:alpha val="43137"/>
                    </a:srgbClr>
                  </a:outerShdw>
                </a:effectLst>
                <a:latin typeface="Times New Roman" panose="02020603050405020304" pitchFamily="18" charset="0"/>
                <a:ea typeface="Quattrocento"/>
                <a:cs typeface="Times New Roman" panose="02020603050405020304" pitchFamily="18" charset="0"/>
                <a:sym typeface="Quattrocento"/>
              </a:rPr>
              <a:t>UNIVERSITY OF INFORMATION AND TECHNOLOGY – VIETNAM NATIONAL UNIVERSITY HCMC</a:t>
            </a:r>
          </a:p>
        </p:txBody>
      </p:sp>
      <p:sp>
        <p:nvSpPr>
          <p:cNvPr id="8" name="TextBox 8"/>
          <p:cNvSpPr txBox="1"/>
          <p:nvPr/>
        </p:nvSpPr>
        <p:spPr>
          <a:xfrm>
            <a:off x="6282571" y="7630042"/>
            <a:ext cx="5722859" cy="1482265"/>
          </a:xfrm>
          <a:prstGeom prst="rect">
            <a:avLst/>
          </a:prstGeom>
        </p:spPr>
        <p:txBody>
          <a:bodyPr wrap="square" lIns="0" tIns="0" rIns="0" bIns="0" numCol="2" rtlCol="0" anchor="t">
            <a:spAutoFit/>
          </a:bodyPr>
          <a:lstStyle/>
          <a:p>
            <a:pPr>
              <a:lnSpc>
                <a:spcPts val="2328"/>
              </a:lnSpc>
            </a:pPr>
            <a:r>
              <a:rPr lang="en-US" sz="2400" b="1" spc="-97" dirty="0">
                <a:solidFill>
                  <a:srgbClr val="2B1C09"/>
                </a:solidFill>
                <a:latin typeface="Times New Roman" panose="02020603050405020304" pitchFamily="18" charset="0"/>
                <a:ea typeface="Quattrocento Bold"/>
                <a:cs typeface="Times New Roman" panose="02020603050405020304" pitchFamily="18" charset="0"/>
                <a:sym typeface="Quattrocento Bold"/>
              </a:rPr>
              <a:t>Team member:</a:t>
            </a:r>
          </a:p>
          <a:p>
            <a:pPr>
              <a:lnSpc>
                <a:spcPts val="2328"/>
              </a:lnSpc>
            </a:pPr>
            <a:r>
              <a:rPr lang="en-US" sz="2400" dirty="0" err="1">
                <a:latin typeface="Times New Roman" panose="02020603050405020304" pitchFamily="18" charset="0"/>
                <a:cs typeface="Times New Roman" panose="02020603050405020304" pitchFamily="18" charset="0"/>
              </a:rPr>
              <a:t>Tống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Thuần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Nguyên</a:t>
            </a:r>
            <a:r>
              <a:rPr lang="en-US" sz="2400" dirty="0">
                <a:latin typeface="Times New Roman" panose="02020603050405020304" pitchFamily="18" charset="0"/>
                <a:cs typeface="Times New Roman" panose="02020603050405020304" pitchFamily="18" charset="0"/>
              </a:rPr>
              <a:t>  </a:t>
            </a:r>
            <a:endParaRPr lang="en-US" sz="2400" b="1" spc="-97" dirty="0">
              <a:solidFill>
                <a:srgbClr val="2B1C09"/>
              </a:solidFill>
              <a:latin typeface="Times New Roman" panose="02020603050405020304" pitchFamily="18" charset="0"/>
              <a:cs typeface="Times New Roman" panose="02020603050405020304" pitchFamily="18" charset="0"/>
              <a:sym typeface="Quattrocento Bold"/>
            </a:endParaRPr>
          </a:p>
          <a:p>
            <a:pPr>
              <a:lnSpc>
                <a:spcPts val="2328"/>
              </a:lnSpc>
            </a:pPr>
            <a:r>
              <a:rPr lang="en-US" sz="2400" dirty="0">
                <a:latin typeface="Times New Roman" panose="02020603050405020304" pitchFamily="18" charset="0"/>
                <a:cs typeface="Times New Roman" panose="02020603050405020304" pitchFamily="18" charset="0"/>
              </a:rPr>
              <a:t>Nguyễn Phát Tài           </a:t>
            </a:r>
            <a:endParaRPr lang="en-US" sz="2400" b="1" spc="-97" dirty="0">
              <a:solidFill>
                <a:srgbClr val="2B1C09"/>
              </a:solidFill>
              <a:latin typeface="Times New Roman" panose="02020603050405020304" pitchFamily="18" charset="0"/>
              <a:cs typeface="Times New Roman" panose="02020603050405020304" pitchFamily="18" charset="0"/>
              <a:sym typeface="Quattrocento Bold"/>
            </a:endParaRPr>
          </a:p>
          <a:p>
            <a:pPr>
              <a:lnSpc>
                <a:spcPts val="2328"/>
              </a:lnSpc>
            </a:pPr>
            <a:r>
              <a:rPr lang="en-US" sz="2400" dirty="0" err="1">
                <a:latin typeface="Times New Roman" panose="02020603050405020304" pitchFamily="18" charset="0"/>
                <a:cs typeface="Times New Roman" panose="02020603050405020304" pitchFamily="18" charset="0"/>
              </a:rPr>
              <a:t>Phạm</a:t>
            </a:r>
            <a:r>
              <a:rPr lang="en-US" sz="2400" dirty="0">
                <a:latin typeface="Times New Roman" panose="02020603050405020304" pitchFamily="18" charset="0"/>
                <a:cs typeface="Times New Roman" panose="02020603050405020304" pitchFamily="18" charset="0"/>
              </a:rPr>
              <a:t> Duy </a:t>
            </a:r>
            <a:r>
              <a:rPr lang="en-US" sz="2400" dirty="0" err="1">
                <a:latin typeface="Times New Roman" panose="02020603050405020304" pitchFamily="18" charset="0"/>
                <a:cs typeface="Times New Roman" panose="02020603050405020304" pitchFamily="18" charset="0"/>
              </a:rPr>
              <a:t>Tuấn</a:t>
            </a:r>
            <a:endParaRPr lang="en-US" sz="2400" dirty="0">
              <a:latin typeface="Times New Roman" panose="02020603050405020304" pitchFamily="18" charset="0"/>
              <a:cs typeface="Times New Roman" panose="02020603050405020304" pitchFamily="18" charset="0"/>
            </a:endParaRPr>
          </a:p>
          <a:p>
            <a:pPr>
              <a:lnSpc>
                <a:spcPts val="2328"/>
              </a:lnSpc>
            </a:pPr>
            <a:endParaRPr lang="en-US" sz="2400" b="1" spc="-97" dirty="0">
              <a:solidFill>
                <a:srgbClr val="2B1C09"/>
              </a:solidFill>
              <a:latin typeface="Times New Roman" panose="02020603050405020304" pitchFamily="18" charset="0"/>
              <a:ea typeface="Quattrocento Bold"/>
              <a:cs typeface="Times New Roman" panose="02020603050405020304" pitchFamily="18" charset="0"/>
              <a:sym typeface="Quattrocento Bold"/>
            </a:endParaRPr>
          </a:p>
          <a:p>
            <a:pPr>
              <a:lnSpc>
                <a:spcPts val="2328"/>
              </a:lnSpc>
            </a:pPr>
            <a:r>
              <a:rPr lang="en-US" sz="2400" b="1" spc="-97" dirty="0">
                <a:solidFill>
                  <a:srgbClr val="2B1C09"/>
                </a:solidFill>
                <a:latin typeface="Times New Roman" panose="02020603050405020304" pitchFamily="18" charset="0"/>
                <a:ea typeface="Quattrocento Bold"/>
                <a:cs typeface="Times New Roman" panose="02020603050405020304" pitchFamily="18" charset="0"/>
                <a:sym typeface="Quattrocento Bold"/>
              </a:rPr>
              <a:t>    ID:</a:t>
            </a:r>
          </a:p>
          <a:p>
            <a:pPr algn="l">
              <a:lnSpc>
                <a:spcPts val="2328"/>
              </a:lnSpc>
            </a:pPr>
            <a:r>
              <a:rPr lang="en-US" sz="2400" dirty="0">
                <a:latin typeface="Times New Roman" panose="02020603050405020304" pitchFamily="18" charset="0"/>
                <a:cs typeface="Times New Roman" panose="02020603050405020304" pitchFamily="18" charset="0"/>
              </a:rPr>
              <a:t>   22520986</a:t>
            </a:r>
          </a:p>
          <a:p>
            <a:pPr algn="l">
              <a:lnSpc>
                <a:spcPts val="2328"/>
              </a:lnSpc>
            </a:pPr>
            <a:r>
              <a:rPr lang="en-US" sz="2400" dirty="0">
                <a:latin typeface="Times New Roman" panose="02020603050405020304" pitchFamily="18" charset="0"/>
                <a:cs typeface="Times New Roman" panose="02020603050405020304" pitchFamily="18" charset="0"/>
              </a:rPr>
              <a:t>   22521279</a:t>
            </a:r>
          </a:p>
          <a:p>
            <a:pPr algn="l">
              <a:lnSpc>
                <a:spcPts val="2328"/>
              </a:lnSpc>
            </a:pPr>
            <a:r>
              <a:rPr lang="en-US" sz="2400" dirty="0">
                <a:latin typeface="Times New Roman" panose="02020603050405020304" pitchFamily="18" charset="0"/>
                <a:cs typeface="Times New Roman" panose="02020603050405020304" pitchFamily="18" charset="0"/>
              </a:rPr>
              <a:t>   22521609</a:t>
            </a:r>
            <a:endParaRPr lang="en-US" sz="2400" b="1" spc="-97" dirty="0">
              <a:solidFill>
                <a:srgbClr val="2B1C09"/>
              </a:solidFill>
              <a:latin typeface="Times New Roman" panose="02020603050405020304" pitchFamily="18" charset="0"/>
              <a:ea typeface="Quattrocento Bold"/>
              <a:cs typeface="Times New Roman" panose="02020603050405020304" pitchFamily="18" charset="0"/>
              <a:sym typeface="Quattrocento Bold"/>
            </a:endParaRPr>
          </a:p>
        </p:txBody>
      </p:sp>
      <p:pic>
        <p:nvPicPr>
          <p:cNvPr id="14" name="Graphic 13">
            <a:extLst>
              <a:ext uri="{FF2B5EF4-FFF2-40B4-BE49-F238E27FC236}">
                <a16:creationId xmlns:a16="http://schemas.microsoft.com/office/drawing/2014/main" id="{6438BF7A-4CFE-344B-3CF4-D79A4939D1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10027"/>
            <a:ext cx="2499675" cy="2019301"/>
          </a:xfrm>
          <a:prstGeom prst="rect">
            <a:avLst/>
          </a:prstGeom>
        </p:spPr>
      </p:pic>
      <p:sp>
        <p:nvSpPr>
          <p:cNvPr id="18" name="TextBox 12">
            <a:extLst>
              <a:ext uri="{FF2B5EF4-FFF2-40B4-BE49-F238E27FC236}">
                <a16:creationId xmlns:a16="http://schemas.microsoft.com/office/drawing/2014/main" id="{EFF58A48-2633-5453-32C2-98C95088E7D8}"/>
              </a:ext>
            </a:extLst>
          </p:cNvPr>
          <p:cNvSpPr txBox="1"/>
          <p:nvPr/>
        </p:nvSpPr>
        <p:spPr>
          <a:xfrm>
            <a:off x="5105396" y="4076700"/>
            <a:ext cx="8077204" cy="1846659"/>
          </a:xfrm>
          <a:prstGeom prst="rect">
            <a:avLst/>
          </a:prstGeom>
        </p:spPr>
        <p:txBody>
          <a:bodyPr wrap="square" lIns="0" tIns="0" rIns="0" bIns="0" rtlCol="0" anchor="t">
            <a:spAutoFit/>
          </a:bodyPr>
          <a:lstStyle/>
          <a:p>
            <a:pPr algn="ctr"/>
            <a:r>
              <a:rPr lang="en-US" sz="4000" b="1" spc="111" dirty="0">
                <a:latin typeface="Times New Roman" panose="02020603050405020304" pitchFamily="18" charset="0"/>
                <a:ea typeface="Maragsa"/>
                <a:cs typeface="Times New Roman" panose="02020603050405020304" pitchFamily="18" charset="0"/>
                <a:sym typeface="Maragsa"/>
              </a:rPr>
              <a:t>Class: STAT3013.P12.CTTT</a:t>
            </a:r>
          </a:p>
          <a:p>
            <a:pPr algn="ctr"/>
            <a:r>
              <a:rPr lang="en-US" sz="4000" b="1" spc="111" dirty="0">
                <a:latin typeface="Times New Roman" panose="02020603050405020304" pitchFamily="18" charset="0"/>
                <a:ea typeface="Maragsa"/>
                <a:cs typeface="Times New Roman" panose="02020603050405020304" pitchFamily="18" charset="0"/>
                <a:sym typeface="Maragsa"/>
              </a:rPr>
              <a:t>Lecturer:  Dr. </a:t>
            </a:r>
            <a:r>
              <a:rPr lang="en-US" sz="4000" b="1" spc="111" dirty="0" err="1">
                <a:latin typeface="Times New Roman" panose="02020603050405020304" pitchFamily="18" charset="0"/>
                <a:ea typeface="Maragsa"/>
                <a:cs typeface="Times New Roman" panose="02020603050405020304" pitchFamily="18" charset="0"/>
                <a:sym typeface="Maragsa"/>
              </a:rPr>
              <a:t>Trần</a:t>
            </a:r>
            <a:r>
              <a:rPr lang="en-US" sz="4000" b="1" spc="111" dirty="0">
                <a:latin typeface="Times New Roman" panose="02020603050405020304" pitchFamily="18" charset="0"/>
                <a:ea typeface="Maragsa"/>
                <a:cs typeface="Times New Roman" panose="02020603050405020304" pitchFamily="18" charset="0"/>
                <a:sym typeface="Maragsa"/>
              </a:rPr>
              <a:t> Văn </a:t>
            </a:r>
            <a:r>
              <a:rPr lang="en-US" sz="4000" b="1" spc="111" dirty="0" err="1">
                <a:latin typeface="Times New Roman" panose="02020603050405020304" pitchFamily="18" charset="0"/>
                <a:ea typeface="Maragsa"/>
                <a:cs typeface="Times New Roman" panose="02020603050405020304" pitchFamily="18" charset="0"/>
                <a:sym typeface="Maragsa"/>
              </a:rPr>
              <a:t>Hải</a:t>
            </a:r>
            <a:r>
              <a:rPr lang="en-US" sz="4000" b="1" spc="111" dirty="0">
                <a:latin typeface="Times New Roman" panose="02020603050405020304" pitchFamily="18" charset="0"/>
                <a:ea typeface="Maragsa"/>
                <a:cs typeface="Times New Roman" panose="02020603050405020304" pitchFamily="18" charset="0"/>
                <a:sym typeface="Maragsa"/>
              </a:rPr>
              <a:t> </a:t>
            </a:r>
            <a:r>
              <a:rPr lang="en-US" sz="4000" b="1" spc="111" dirty="0" err="1">
                <a:latin typeface="Times New Roman" panose="02020603050405020304" pitchFamily="18" charset="0"/>
                <a:ea typeface="Maragsa"/>
                <a:cs typeface="Times New Roman" panose="02020603050405020304" pitchFamily="18" charset="0"/>
                <a:sym typeface="Maragsa"/>
              </a:rPr>
              <a:t>Triều</a:t>
            </a:r>
            <a:r>
              <a:rPr lang="en-US" sz="4000" b="1" spc="111" dirty="0">
                <a:latin typeface="Times New Roman" panose="02020603050405020304" pitchFamily="18" charset="0"/>
                <a:ea typeface="Maragsa"/>
                <a:cs typeface="Times New Roman" panose="02020603050405020304" pitchFamily="18" charset="0"/>
                <a:sym typeface="Maragsa"/>
              </a:rPr>
              <a:t>.</a:t>
            </a:r>
            <a:br>
              <a:rPr lang="en-US" sz="4000" b="1" spc="111" dirty="0">
                <a:latin typeface="Times New Roman" panose="02020603050405020304" pitchFamily="18" charset="0"/>
                <a:ea typeface="Maragsa"/>
                <a:cs typeface="Times New Roman" panose="02020603050405020304" pitchFamily="18" charset="0"/>
                <a:sym typeface="Maragsa"/>
              </a:rPr>
            </a:br>
            <a:r>
              <a:rPr lang="en-US" sz="4000" b="1" spc="111" dirty="0">
                <a:latin typeface="Times New Roman" panose="02020603050405020304" pitchFamily="18" charset="0"/>
                <a:ea typeface="Maragsa"/>
                <a:cs typeface="Times New Roman" panose="02020603050405020304" pitchFamily="18" charset="0"/>
                <a:sym typeface="Maragsa"/>
              </a:rPr>
              <a:t>Lecturer: Nguyễn Minh </a:t>
            </a:r>
            <a:r>
              <a:rPr lang="en-US" sz="4000" b="1" spc="111" dirty="0" err="1">
                <a:latin typeface="Times New Roman" panose="02020603050405020304" pitchFamily="18" charset="0"/>
                <a:ea typeface="Maragsa"/>
                <a:cs typeface="Times New Roman" panose="02020603050405020304" pitchFamily="18" charset="0"/>
                <a:sym typeface="Maragsa"/>
              </a:rPr>
              <a:t>Nhựt</a:t>
            </a:r>
            <a:r>
              <a:rPr lang="en-US" sz="4000" b="1" spc="111" dirty="0">
                <a:latin typeface="Times New Roman" panose="02020603050405020304" pitchFamily="18" charset="0"/>
                <a:ea typeface="Maragsa"/>
                <a:cs typeface="Times New Roman" panose="02020603050405020304" pitchFamily="18" charset="0"/>
                <a:sym typeface="Maragsa"/>
              </a:rPr>
              <a:t>.</a:t>
            </a:r>
          </a:p>
        </p:txBody>
      </p:sp>
      <p:grpSp>
        <p:nvGrpSpPr>
          <p:cNvPr id="20" name="Group 3">
            <a:extLst>
              <a:ext uri="{FF2B5EF4-FFF2-40B4-BE49-F238E27FC236}">
                <a16:creationId xmlns:a16="http://schemas.microsoft.com/office/drawing/2014/main" id="{5E42FF19-3474-EA91-3671-33A9B5EB0312}"/>
              </a:ext>
            </a:extLst>
          </p:cNvPr>
          <p:cNvGrpSpPr/>
          <p:nvPr/>
        </p:nvGrpSpPr>
        <p:grpSpPr>
          <a:xfrm rot="5400000">
            <a:off x="13509350" y="4473849"/>
            <a:ext cx="9256510" cy="308811"/>
            <a:chOff x="0" y="0"/>
            <a:chExt cx="4816593" cy="271405"/>
          </a:xfrm>
          <a:solidFill>
            <a:srgbClr val="FC6233"/>
          </a:solidFill>
        </p:grpSpPr>
        <p:sp>
          <p:nvSpPr>
            <p:cNvPr id="21" name="Freeform 4">
              <a:extLst>
                <a:ext uri="{FF2B5EF4-FFF2-40B4-BE49-F238E27FC236}">
                  <a16:creationId xmlns:a16="http://schemas.microsoft.com/office/drawing/2014/main" id="{1E18C641-F340-5A19-85F3-FB0F292A6594}"/>
                </a:ext>
              </a:extLst>
            </p:cNvPr>
            <p:cNvSpPr/>
            <p:nvPr/>
          </p:nvSpPr>
          <p:spPr>
            <a:xfrm>
              <a:off x="0" y="0"/>
              <a:ext cx="4816592" cy="271405"/>
            </a:xfrm>
            <a:custGeom>
              <a:avLst/>
              <a:gdLst/>
              <a:ahLst/>
              <a:cxnLst/>
              <a:rect l="l" t="t" r="r" b="b"/>
              <a:pathLst>
                <a:path w="4816592" h="271405">
                  <a:moveTo>
                    <a:pt x="0" y="0"/>
                  </a:moveTo>
                  <a:lnTo>
                    <a:pt x="4816592" y="0"/>
                  </a:lnTo>
                  <a:lnTo>
                    <a:pt x="4816592" y="271405"/>
                  </a:lnTo>
                  <a:lnTo>
                    <a:pt x="0" y="271405"/>
                  </a:lnTo>
                  <a:close/>
                </a:path>
              </a:pathLst>
            </a:custGeom>
            <a:grpFill/>
          </p:spPr>
          <p:txBody>
            <a:bodyPr/>
            <a:lstStyle/>
            <a:p>
              <a:endParaRPr lang="en-US"/>
            </a:p>
          </p:txBody>
        </p:sp>
        <p:sp>
          <p:nvSpPr>
            <p:cNvPr id="22" name="TextBox 5">
              <a:extLst>
                <a:ext uri="{FF2B5EF4-FFF2-40B4-BE49-F238E27FC236}">
                  <a16:creationId xmlns:a16="http://schemas.microsoft.com/office/drawing/2014/main" id="{D905CE98-7512-1CC0-6C34-9EF9784E5353}"/>
                </a:ext>
              </a:extLst>
            </p:cNvPr>
            <p:cNvSpPr txBox="1"/>
            <p:nvPr/>
          </p:nvSpPr>
          <p:spPr>
            <a:xfrm>
              <a:off x="0" y="0"/>
              <a:ext cx="4816593" cy="271405"/>
            </a:xfrm>
            <a:prstGeom prst="rect">
              <a:avLst/>
            </a:prstGeom>
            <a:grpFill/>
          </p:spPr>
          <p:txBody>
            <a:bodyPr lIns="50800" tIns="50800" rIns="50800" bIns="50800" rtlCol="0" anchor="ctr"/>
            <a:lstStyle/>
            <a:p>
              <a:pPr algn="ctr">
                <a:lnSpc>
                  <a:spcPts val="2879"/>
                </a:lnSpc>
              </a:pPr>
              <a:endParaRPr/>
            </a:p>
          </p:txBody>
        </p:sp>
      </p:grpSp>
      <p:grpSp>
        <p:nvGrpSpPr>
          <p:cNvPr id="26" name="Group 3">
            <a:extLst>
              <a:ext uri="{FF2B5EF4-FFF2-40B4-BE49-F238E27FC236}">
                <a16:creationId xmlns:a16="http://schemas.microsoft.com/office/drawing/2014/main" id="{FA779FB3-03D9-64E6-683D-DFBB0B4CC29C}"/>
              </a:ext>
            </a:extLst>
          </p:cNvPr>
          <p:cNvGrpSpPr/>
          <p:nvPr/>
        </p:nvGrpSpPr>
        <p:grpSpPr>
          <a:xfrm rot="5400000">
            <a:off x="12969933" y="4473850"/>
            <a:ext cx="9256510" cy="308811"/>
            <a:chOff x="0" y="0"/>
            <a:chExt cx="4816593" cy="271405"/>
          </a:xfrm>
          <a:solidFill>
            <a:srgbClr val="FC6233"/>
          </a:solidFill>
        </p:grpSpPr>
        <p:sp>
          <p:nvSpPr>
            <p:cNvPr id="27" name="Freeform 4">
              <a:extLst>
                <a:ext uri="{FF2B5EF4-FFF2-40B4-BE49-F238E27FC236}">
                  <a16:creationId xmlns:a16="http://schemas.microsoft.com/office/drawing/2014/main" id="{9C034AD5-1A1B-CA79-AE29-28AA49F4B50E}"/>
                </a:ext>
              </a:extLst>
            </p:cNvPr>
            <p:cNvSpPr/>
            <p:nvPr/>
          </p:nvSpPr>
          <p:spPr>
            <a:xfrm>
              <a:off x="0" y="0"/>
              <a:ext cx="4816592" cy="271405"/>
            </a:xfrm>
            <a:custGeom>
              <a:avLst/>
              <a:gdLst/>
              <a:ahLst/>
              <a:cxnLst/>
              <a:rect l="l" t="t" r="r" b="b"/>
              <a:pathLst>
                <a:path w="4816592" h="271405">
                  <a:moveTo>
                    <a:pt x="0" y="0"/>
                  </a:moveTo>
                  <a:lnTo>
                    <a:pt x="4816592" y="0"/>
                  </a:lnTo>
                  <a:lnTo>
                    <a:pt x="4816592" y="271405"/>
                  </a:lnTo>
                  <a:lnTo>
                    <a:pt x="0" y="271405"/>
                  </a:lnTo>
                  <a:close/>
                </a:path>
              </a:pathLst>
            </a:custGeom>
            <a:grpFill/>
          </p:spPr>
          <p:txBody>
            <a:bodyPr/>
            <a:lstStyle/>
            <a:p>
              <a:endParaRPr lang="en-US"/>
            </a:p>
          </p:txBody>
        </p:sp>
        <p:sp>
          <p:nvSpPr>
            <p:cNvPr id="28" name="TextBox 5">
              <a:extLst>
                <a:ext uri="{FF2B5EF4-FFF2-40B4-BE49-F238E27FC236}">
                  <a16:creationId xmlns:a16="http://schemas.microsoft.com/office/drawing/2014/main" id="{C3FF63DF-C4A9-BBA6-4C67-03EB7EAE5576}"/>
                </a:ext>
              </a:extLst>
            </p:cNvPr>
            <p:cNvSpPr txBox="1"/>
            <p:nvPr/>
          </p:nvSpPr>
          <p:spPr>
            <a:xfrm>
              <a:off x="0" y="0"/>
              <a:ext cx="4816593" cy="271405"/>
            </a:xfrm>
            <a:prstGeom prst="rect">
              <a:avLst/>
            </a:prstGeom>
            <a:grpFill/>
          </p:spPr>
          <p:txBody>
            <a:bodyPr lIns="50800" tIns="50800" rIns="50800" bIns="50800" rtlCol="0" anchor="ctr"/>
            <a:lstStyle/>
            <a:p>
              <a:pPr algn="ctr">
                <a:lnSpc>
                  <a:spcPts val="2879"/>
                </a:lnSpc>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06339" y="321841"/>
            <a:ext cx="7914051" cy="1354217"/>
          </a:xfrm>
          <a:prstGeom prst="rect">
            <a:avLst/>
          </a:prstGeom>
        </p:spPr>
        <p:txBody>
          <a:bodyPr wrap="square" lIns="0" tIns="0" rIns="0" bIns="0" rtlCol="0" anchor="t">
            <a:spAutoFit/>
          </a:bodyPr>
          <a:lstStyle/>
          <a:p>
            <a:pPr algn="r"/>
            <a:r>
              <a:rPr lang="en-US" sz="4400" b="1"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a:t>
            </a:r>
            <a:br>
              <a:rPr lang="en-US" sz="4400" b="1" spc="63" dirty="0">
                <a:solidFill>
                  <a:srgbClr val="FC6233"/>
                </a:solidFill>
                <a:latin typeface="Times New Roman" panose="02020603050405020304" pitchFamily="18" charset="0"/>
                <a:ea typeface="Maragsa"/>
                <a:cs typeface="Times New Roman" panose="02020603050405020304" pitchFamily="18" charset="0"/>
                <a:sym typeface="Maragsa"/>
              </a:rPr>
            </a:br>
            <a:r>
              <a:rPr lang="en-US" sz="4400" b="1" spc="63" dirty="0">
                <a:solidFill>
                  <a:srgbClr val="FC6233"/>
                </a:solidFill>
                <a:latin typeface="Times New Roman" panose="02020603050405020304" pitchFamily="18" charset="0"/>
                <a:ea typeface="Maragsa"/>
                <a:cs typeface="Times New Roman" panose="02020603050405020304" pitchFamily="18" charset="0"/>
                <a:sym typeface="Maragsa"/>
              </a:rPr>
              <a:t>in the Food Delivery Industry</a:t>
            </a:r>
          </a:p>
        </p:txBody>
      </p:sp>
      <p:sp>
        <p:nvSpPr>
          <p:cNvPr id="4" name="TextBox 4"/>
          <p:cNvSpPr txBox="1"/>
          <p:nvPr/>
        </p:nvSpPr>
        <p:spPr>
          <a:xfrm>
            <a:off x="893074" y="494743"/>
            <a:ext cx="4821926" cy="923330"/>
          </a:xfrm>
          <a:prstGeom prst="rect">
            <a:avLst/>
          </a:prstGeom>
        </p:spPr>
        <p:txBody>
          <a:bodyPr wrap="square" lIns="0" tIns="0" rIns="0" bIns="0" rtlCol="0" anchor="t">
            <a:spAutoFit/>
          </a:bodyPr>
          <a:lstStyle/>
          <a:p>
            <a:pPr algn="ctr">
              <a:lnSpc>
                <a:spcPts val="7200"/>
              </a:lnSpc>
            </a:pPr>
            <a:r>
              <a:rPr lang="en-US" sz="6500" spc="288" dirty="0">
                <a:solidFill>
                  <a:srgbClr val="5B19EC"/>
                </a:solidFill>
                <a:latin typeface="Times New Roman" panose="02020603050405020304" pitchFamily="18" charset="0"/>
                <a:ea typeface="Maragsa"/>
                <a:cs typeface="Times New Roman" panose="02020603050405020304" pitchFamily="18" charset="0"/>
                <a:sym typeface="Maragsa"/>
              </a:rPr>
              <a:t>CONTENTS</a:t>
            </a:r>
          </a:p>
        </p:txBody>
      </p:sp>
      <p:grpSp>
        <p:nvGrpSpPr>
          <p:cNvPr id="50" name="Group 49">
            <a:extLst>
              <a:ext uri="{FF2B5EF4-FFF2-40B4-BE49-F238E27FC236}">
                <a16:creationId xmlns:a16="http://schemas.microsoft.com/office/drawing/2014/main" id="{22745429-69D1-A2D3-F136-CA3EC8C402EC}"/>
              </a:ext>
            </a:extLst>
          </p:cNvPr>
          <p:cNvGrpSpPr/>
          <p:nvPr/>
        </p:nvGrpSpPr>
        <p:grpSpPr>
          <a:xfrm>
            <a:off x="1451610" y="2324100"/>
            <a:ext cx="4160520" cy="1209147"/>
            <a:chOff x="1930815" y="2980912"/>
            <a:chExt cx="4812032" cy="1209147"/>
          </a:xfrm>
        </p:grpSpPr>
        <p:grpSp>
          <p:nvGrpSpPr>
            <p:cNvPr id="6" name="Group 6"/>
            <p:cNvGrpSpPr/>
            <p:nvPr/>
          </p:nvGrpSpPr>
          <p:grpSpPr>
            <a:xfrm>
              <a:off x="1930815" y="2980912"/>
              <a:ext cx="4812032" cy="1209147"/>
              <a:chOff x="0" y="0"/>
              <a:chExt cx="1090119" cy="217608"/>
            </a:xfrm>
          </p:grpSpPr>
          <p:sp>
            <p:nvSpPr>
              <p:cNvPr id="7" name="Freeform 7"/>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pPr algn="ctr"/>
                <a:endParaRPr lang="en-US">
                  <a:latin typeface="Times New Roman" panose="02020603050405020304" pitchFamily="18" charset="0"/>
                  <a:cs typeface="Times New Roman" panose="02020603050405020304" pitchFamily="18" charset="0"/>
                </a:endParaRPr>
              </a:p>
            </p:txBody>
          </p:sp>
          <p:sp>
            <p:nvSpPr>
              <p:cNvPr id="8" name="TextBox 8"/>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9" name="TextBox 9"/>
            <p:cNvSpPr txBox="1"/>
            <p:nvPr/>
          </p:nvSpPr>
          <p:spPr>
            <a:xfrm>
              <a:off x="2168811" y="3262587"/>
              <a:ext cx="830611" cy="615553"/>
            </a:xfrm>
            <a:prstGeom prst="rect">
              <a:avLst/>
            </a:prstGeom>
          </p:spPr>
          <p:txBody>
            <a:bodyPr lIns="0" tIns="0" rIns="0" bIns="0" rtlCol="0" anchor="t">
              <a:spAutoFit/>
            </a:bodyPr>
            <a:lstStyle/>
            <a:p>
              <a:pPr algn="ctr">
                <a:lnSpc>
                  <a:spcPts val="4800"/>
                </a:lnSpc>
              </a:pPr>
              <a:r>
                <a:rPr lang="en-US" sz="4500" spc="192" dirty="0">
                  <a:solidFill>
                    <a:srgbClr val="5B19EC"/>
                  </a:solidFill>
                  <a:latin typeface="Times New Roman" panose="02020603050405020304" pitchFamily="18" charset="0"/>
                  <a:ea typeface="Maragsa"/>
                  <a:cs typeface="Times New Roman" panose="02020603050405020304" pitchFamily="18" charset="0"/>
                  <a:sym typeface="Maragsa"/>
                </a:rPr>
                <a:t>01</a:t>
              </a:r>
            </a:p>
          </p:txBody>
        </p:sp>
        <p:sp>
          <p:nvSpPr>
            <p:cNvPr id="10" name="TextBox 10"/>
            <p:cNvSpPr txBox="1"/>
            <p:nvPr/>
          </p:nvSpPr>
          <p:spPr>
            <a:xfrm>
              <a:off x="3304264" y="3174953"/>
              <a:ext cx="3003591" cy="864019"/>
            </a:xfrm>
            <a:prstGeom prst="rect">
              <a:avLst/>
            </a:prstGeom>
          </p:spPr>
          <p:txBody>
            <a:bodyPr wrap="square" lIns="0" tIns="0" rIns="0" bIns="0" rtlCol="0" anchor="t">
              <a:spAutoFit/>
            </a:bodyPr>
            <a:lstStyle/>
            <a:p>
              <a:pPr algn="l">
                <a:lnSpc>
                  <a:spcPts val="3359"/>
                </a:lnSpc>
              </a:pPr>
              <a:r>
                <a:rPr lang="en-US" sz="2500"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Research Objectives Objective Highlights</a:t>
              </a:r>
            </a:p>
          </p:txBody>
        </p:sp>
      </p:grpSp>
      <p:grpSp>
        <p:nvGrpSpPr>
          <p:cNvPr id="99" name="Group 98">
            <a:extLst>
              <a:ext uri="{FF2B5EF4-FFF2-40B4-BE49-F238E27FC236}">
                <a16:creationId xmlns:a16="http://schemas.microsoft.com/office/drawing/2014/main" id="{5442DCD9-6084-1E3C-EC01-D15ED7075774}"/>
              </a:ext>
            </a:extLst>
          </p:cNvPr>
          <p:cNvGrpSpPr/>
          <p:nvPr/>
        </p:nvGrpSpPr>
        <p:grpSpPr>
          <a:xfrm>
            <a:off x="7063740" y="2324100"/>
            <a:ext cx="4160520" cy="1209147"/>
            <a:chOff x="1930815" y="2980912"/>
            <a:chExt cx="4812032" cy="1209147"/>
          </a:xfrm>
        </p:grpSpPr>
        <p:grpSp>
          <p:nvGrpSpPr>
            <p:cNvPr id="100" name="Group 6">
              <a:extLst>
                <a:ext uri="{FF2B5EF4-FFF2-40B4-BE49-F238E27FC236}">
                  <a16:creationId xmlns:a16="http://schemas.microsoft.com/office/drawing/2014/main" id="{BF0CD31B-099E-79A1-A587-CB1E757816D8}"/>
                </a:ext>
              </a:extLst>
            </p:cNvPr>
            <p:cNvGrpSpPr/>
            <p:nvPr/>
          </p:nvGrpSpPr>
          <p:grpSpPr>
            <a:xfrm>
              <a:off x="1930815" y="2980912"/>
              <a:ext cx="4812032" cy="1209147"/>
              <a:chOff x="0" y="0"/>
              <a:chExt cx="1090119" cy="217608"/>
            </a:xfrm>
          </p:grpSpPr>
          <p:sp>
            <p:nvSpPr>
              <p:cNvPr id="103" name="Freeform 7">
                <a:extLst>
                  <a:ext uri="{FF2B5EF4-FFF2-40B4-BE49-F238E27FC236}">
                    <a16:creationId xmlns:a16="http://schemas.microsoft.com/office/drawing/2014/main" id="{ABE3E06B-4D4B-8DD9-4076-CCE3E0F4DAD4}"/>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pPr algn="ctr"/>
                <a:endParaRPr lang="en-US">
                  <a:latin typeface="Times New Roman" panose="02020603050405020304" pitchFamily="18" charset="0"/>
                  <a:cs typeface="Times New Roman" panose="02020603050405020304" pitchFamily="18" charset="0"/>
                </a:endParaRPr>
              </a:p>
            </p:txBody>
          </p:sp>
          <p:sp>
            <p:nvSpPr>
              <p:cNvPr id="104" name="TextBox 8">
                <a:extLst>
                  <a:ext uri="{FF2B5EF4-FFF2-40B4-BE49-F238E27FC236}">
                    <a16:creationId xmlns:a16="http://schemas.microsoft.com/office/drawing/2014/main" id="{4BC46CAD-5753-B2BA-8D1E-5C28E92E7572}"/>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101" name="TextBox 9">
              <a:extLst>
                <a:ext uri="{FF2B5EF4-FFF2-40B4-BE49-F238E27FC236}">
                  <a16:creationId xmlns:a16="http://schemas.microsoft.com/office/drawing/2014/main" id="{B02DB246-DE8B-D020-6DBC-376EFEC7A7DD}"/>
                </a:ext>
              </a:extLst>
            </p:cNvPr>
            <p:cNvSpPr txBox="1"/>
            <p:nvPr/>
          </p:nvSpPr>
          <p:spPr>
            <a:xfrm>
              <a:off x="2168811" y="3262587"/>
              <a:ext cx="830611" cy="615553"/>
            </a:xfrm>
            <a:prstGeom prst="rect">
              <a:avLst/>
            </a:prstGeom>
          </p:spPr>
          <p:txBody>
            <a:bodyPr lIns="0" tIns="0" rIns="0" bIns="0" rtlCol="0" anchor="t">
              <a:spAutoFit/>
            </a:bodyPr>
            <a:lstStyle/>
            <a:p>
              <a:pPr algn="ctr">
                <a:lnSpc>
                  <a:spcPts val="4800"/>
                </a:lnSpc>
              </a:pPr>
              <a:r>
                <a:rPr lang="en-US" sz="4500" spc="192" dirty="0">
                  <a:solidFill>
                    <a:srgbClr val="5B19EC"/>
                  </a:solidFill>
                  <a:latin typeface="Times New Roman" panose="02020603050405020304" pitchFamily="18" charset="0"/>
                  <a:ea typeface="Maragsa"/>
                  <a:cs typeface="Times New Roman" panose="02020603050405020304" pitchFamily="18" charset="0"/>
                  <a:sym typeface="Maragsa"/>
                </a:rPr>
                <a:t>02</a:t>
              </a:r>
            </a:p>
          </p:txBody>
        </p:sp>
        <p:sp>
          <p:nvSpPr>
            <p:cNvPr id="102" name="TextBox 10">
              <a:extLst>
                <a:ext uri="{FF2B5EF4-FFF2-40B4-BE49-F238E27FC236}">
                  <a16:creationId xmlns:a16="http://schemas.microsoft.com/office/drawing/2014/main" id="{2387B53D-97BF-2464-DA45-839B40488E9E}"/>
                </a:ext>
              </a:extLst>
            </p:cNvPr>
            <p:cNvSpPr txBox="1"/>
            <p:nvPr/>
          </p:nvSpPr>
          <p:spPr>
            <a:xfrm>
              <a:off x="3304264" y="3174953"/>
              <a:ext cx="3003592" cy="864019"/>
            </a:xfrm>
            <a:prstGeom prst="rect">
              <a:avLst/>
            </a:prstGeom>
          </p:spPr>
          <p:txBody>
            <a:bodyPr wrap="square" lIns="0" tIns="0" rIns="0" bIns="0" rtlCol="0" anchor="t">
              <a:spAutoFit/>
            </a:bodyPr>
            <a:lstStyle/>
            <a:p>
              <a:pPr algn="l">
                <a:lnSpc>
                  <a:spcPts val="3359"/>
                </a:lnSpc>
              </a:pPr>
              <a:r>
                <a:rPr lang="en-US" sz="2500"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Data Collection &amp; Preprocessing</a:t>
              </a:r>
            </a:p>
          </p:txBody>
        </p:sp>
      </p:grpSp>
      <p:grpSp>
        <p:nvGrpSpPr>
          <p:cNvPr id="105" name="Group 104">
            <a:extLst>
              <a:ext uri="{FF2B5EF4-FFF2-40B4-BE49-F238E27FC236}">
                <a16:creationId xmlns:a16="http://schemas.microsoft.com/office/drawing/2014/main" id="{F15C507B-1A6C-C3FE-CA72-D96590F6E970}"/>
              </a:ext>
            </a:extLst>
          </p:cNvPr>
          <p:cNvGrpSpPr/>
          <p:nvPr/>
        </p:nvGrpSpPr>
        <p:grpSpPr>
          <a:xfrm>
            <a:off x="12675870" y="2324100"/>
            <a:ext cx="4160520" cy="1209147"/>
            <a:chOff x="1930815" y="2980912"/>
            <a:chExt cx="4812032" cy="1209147"/>
          </a:xfrm>
        </p:grpSpPr>
        <p:grpSp>
          <p:nvGrpSpPr>
            <p:cNvPr id="106" name="Group 6">
              <a:extLst>
                <a:ext uri="{FF2B5EF4-FFF2-40B4-BE49-F238E27FC236}">
                  <a16:creationId xmlns:a16="http://schemas.microsoft.com/office/drawing/2014/main" id="{4DD845F7-6CE1-5E75-AD54-7F2C8978C22C}"/>
                </a:ext>
              </a:extLst>
            </p:cNvPr>
            <p:cNvGrpSpPr/>
            <p:nvPr/>
          </p:nvGrpSpPr>
          <p:grpSpPr>
            <a:xfrm>
              <a:off x="1930815" y="2980912"/>
              <a:ext cx="4812032" cy="1209147"/>
              <a:chOff x="0" y="0"/>
              <a:chExt cx="1090119" cy="217608"/>
            </a:xfrm>
          </p:grpSpPr>
          <p:sp>
            <p:nvSpPr>
              <p:cNvPr id="109" name="Freeform 7">
                <a:extLst>
                  <a:ext uri="{FF2B5EF4-FFF2-40B4-BE49-F238E27FC236}">
                    <a16:creationId xmlns:a16="http://schemas.microsoft.com/office/drawing/2014/main" id="{3433E4F1-ABDF-C8D0-EFFB-F55555CF2C99}"/>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pPr algn="ctr"/>
                <a:endParaRPr lang="en-US">
                  <a:latin typeface="Times New Roman" panose="02020603050405020304" pitchFamily="18" charset="0"/>
                  <a:cs typeface="Times New Roman" panose="02020603050405020304" pitchFamily="18" charset="0"/>
                </a:endParaRPr>
              </a:p>
            </p:txBody>
          </p:sp>
          <p:sp>
            <p:nvSpPr>
              <p:cNvPr id="110" name="TextBox 8">
                <a:extLst>
                  <a:ext uri="{FF2B5EF4-FFF2-40B4-BE49-F238E27FC236}">
                    <a16:creationId xmlns:a16="http://schemas.microsoft.com/office/drawing/2014/main" id="{6052F644-0813-C2AD-6A99-40EE13F95676}"/>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107" name="TextBox 9">
              <a:extLst>
                <a:ext uri="{FF2B5EF4-FFF2-40B4-BE49-F238E27FC236}">
                  <a16:creationId xmlns:a16="http://schemas.microsoft.com/office/drawing/2014/main" id="{76447729-4F5A-C136-CF88-DCDA64831617}"/>
                </a:ext>
              </a:extLst>
            </p:cNvPr>
            <p:cNvSpPr txBox="1"/>
            <p:nvPr/>
          </p:nvSpPr>
          <p:spPr>
            <a:xfrm>
              <a:off x="2168811" y="3262587"/>
              <a:ext cx="830611" cy="615553"/>
            </a:xfrm>
            <a:prstGeom prst="rect">
              <a:avLst/>
            </a:prstGeom>
          </p:spPr>
          <p:txBody>
            <a:bodyPr lIns="0" tIns="0" rIns="0" bIns="0" rtlCol="0" anchor="t">
              <a:spAutoFit/>
            </a:bodyPr>
            <a:lstStyle/>
            <a:p>
              <a:pPr algn="ctr">
                <a:lnSpc>
                  <a:spcPts val="4800"/>
                </a:lnSpc>
              </a:pPr>
              <a:r>
                <a:rPr lang="en-US" sz="4500" spc="192" dirty="0">
                  <a:solidFill>
                    <a:srgbClr val="5B19EC"/>
                  </a:solidFill>
                  <a:latin typeface="Times New Roman" panose="02020603050405020304" pitchFamily="18" charset="0"/>
                  <a:ea typeface="Maragsa"/>
                  <a:cs typeface="Times New Roman" panose="02020603050405020304" pitchFamily="18" charset="0"/>
                  <a:sym typeface="Maragsa"/>
                </a:rPr>
                <a:t>03</a:t>
              </a:r>
            </a:p>
          </p:txBody>
        </p:sp>
        <p:sp>
          <p:nvSpPr>
            <p:cNvPr id="108" name="TextBox 10">
              <a:extLst>
                <a:ext uri="{FF2B5EF4-FFF2-40B4-BE49-F238E27FC236}">
                  <a16:creationId xmlns:a16="http://schemas.microsoft.com/office/drawing/2014/main" id="{1A839670-DC14-A79E-C3C4-EF0138DE98A3}"/>
                </a:ext>
              </a:extLst>
            </p:cNvPr>
            <p:cNvSpPr txBox="1"/>
            <p:nvPr/>
          </p:nvSpPr>
          <p:spPr>
            <a:xfrm>
              <a:off x="3304264" y="3174953"/>
              <a:ext cx="3003592" cy="402161"/>
            </a:xfrm>
            <a:prstGeom prst="rect">
              <a:avLst/>
            </a:prstGeom>
          </p:spPr>
          <p:txBody>
            <a:bodyPr wrap="square" lIns="0" tIns="0" rIns="0" bIns="0" rtlCol="0" anchor="t">
              <a:spAutoFit/>
            </a:bodyPr>
            <a:lstStyle/>
            <a:p>
              <a:pPr algn="l">
                <a:lnSpc>
                  <a:spcPts val="3359"/>
                </a:lnSpc>
              </a:pPr>
              <a:r>
                <a:rPr lang="en-US" sz="2500"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Modeling Techniques </a:t>
              </a:r>
            </a:p>
          </p:txBody>
        </p:sp>
      </p:grpSp>
      <p:grpSp>
        <p:nvGrpSpPr>
          <p:cNvPr id="111" name="Group 110">
            <a:extLst>
              <a:ext uri="{FF2B5EF4-FFF2-40B4-BE49-F238E27FC236}">
                <a16:creationId xmlns:a16="http://schemas.microsoft.com/office/drawing/2014/main" id="{F4590F83-99AE-7207-CF3E-1B16C5CCA91E}"/>
              </a:ext>
            </a:extLst>
          </p:cNvPr>
          <p:cNvGrpSpPr/>
          <p:nvPr/>
        </p:nvGrpSpPr>
        <p:grpSpPr>
          <a:xfrm>
            <a:off x="1451610" y="4066839"/>
            <a:ext cx="4160520" cy="1209147"/>
            <a:chOff x="1930815" y="2980912"/>
            <a:chExt cx="4812032" cy="1209147"/>
          </a:xfrm>
        </p:grpSpPr>
        <p:grpSp>
          <p:nvGrpSpPr>
            <p:cNvPr id="112" name="Group 6">
              <a:extLst>
                <a:ext uri="{FF2B5EF4-FFF2-40B4-BE49-F238E27FC236}">
                  <a16:creationId xmlns:a16="http://schemas.microsoft.com/office/drawing/2014/main" id="{42420FCF-D1DA-A7EF-BC0F-399F62C61698}"/>
                </a:ext>
              </a:extLst>
            </p:cNvPr>
            <p:cNvGrpSpPr/>
            <p:nvPr/>
          </p:nvGrpSpPr>
          <p:grpSpPr>
            <a:xfrm>
              <a:off x="1930815" y="2980912"/>
              <a:ext cx="4812032" cy="1209147"/>
              <a:chOff x="0" y="0"/>
              <a:chExt cx="1090119" cy="217608"/>
            </a:xfrm>
          </p:grpSpPr>
          <p:sp>
            <p:nvSpPr>
              <p:cNvPr id="115" name="Freeform 7">
                <a:extLst>
                  <a:ext uri="{FF2B5EF4-FFF2-40B4-BE49-F238E27FC236}">
                    <a16:creationId xmlns:a16="http://schemas.microsoft.com/office/drawing/2014/main" id="{0E911F07-4355-89A1-EFFE-423B3DC910FE}"/>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pPr algn="ctr"/>
                <a:endParaRPr lang="en-US">
                  <a:latin typeface="Times New Roman" panose="02020603050405020304" pitchFamily="18" charset="0"/>
                  <a:cs typeface="Times New Roman" panose="02020603050405020304" pitchFamily="18" charset="0"/>
                </a:endParaRPr>
              </a:p>
            </p:txBody>
          </p:sp>
          <p:sp>
            <p:nvSpPr>
              <p:cNvPr id="116" name="TextBox 8">
                <a:extLst>
                  <a:ext uri="{FF2B5EF4-FFF2-40B4-BE49-F238E27FC236}">
                    <a16:creationId xmlns:a16="http://schemas.microsoft.com/office/drawing/2014/main" id="{4A2F38EB-42ED-4575-EBD3-D99160D31E24}"/>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113" name="TextBox 9">
              <a:extLst>
                <a:ext uri="{FF2B5EF4-FFF2-40B4-BE49-F238E27FC236}">
                  <a16:creationId xmlns:a16="http://schemas.microsoft.com/office/drawing/2014/main" id="{62DF4AAF-0FBA-98BD-8A66-6B7ED2E2C0CB}"/>
                </a:ext>
              </a:extLst>
            </p:cNvPr>
            <p:cNvSpPr txBox="1"/>
            <p:nvPr/>
          </p:nvSpPr>
          <p:spPr>
            <a:xfrm>
              <a:off x="2168811" y="3262587"/>
              <a:ext cx="830611" cy="615553"/>
            </a:xfrm>
            <a:prstGeom prst="rect">
              <a:avLst/>
            </a:prstGeom>
          </p:spPr>
          <p:txBody>
            <a:bodyPr lIns="0" tIns="0" rIns="0" bIns="0" rtlCol="0" anchor="t">
              <a:spAutoFit/>
            </a:bodyPr>
            <a:lstStyle/>
            <a:p>
              <a:pPr algn="ctr">
                <a:lnSpc>
                  <a:spcPts val="4800"/>
                </a:lnSpc>
              </a:pPr>
              <a:r>
                <a:rPr lang="en-US" sz="4500" spc="192" dirty="0">
                  <a:solidFill>
                    <a:srgbClr val="5B19EC"/>
                  </a:solidFill>
                  <a:latin typeface="Times New Roman" panose="02020603050405020304" pitchFamily="18" charset="0"/>
                  <a:ea typeface="Maragsa"/>
                  <a:cs typeface="Times New Roman" panose="02020603050405020304" pitchFamily="18" charset="0"/>
                  <a:sym typeface="Maragsa"/>
                </a:rPr>
                <a:t>04</a:t>
              </a:r>
            </a:p>
          </p:txBody>
        </p:sp>
        <p:sp>
          <p:nvSpPr>
            <p:cNvPr id="114" name="TextBox 10">
              <a:extLst>
                <a:ext uri="{FF2B5EF4-FFF2-40B4-BE49-F238E27FC236}">
                  <a16:creationId xmlns:a16="http://schemas.microsoft.com/office/drawing/2014/main" id="{108740C2-1BC8-04DE-D1E7-9D77366B869F}"/>
                </a:ext>
              </a:extLst>
            </p:cNvPr>
            <p:cNvSpPr txBox="1"/>
            <p:nvPr/>
          </p:nvSpPr>
          <p:spPr>
            <a:xfrm>
              <a:off x="3304264" y="3174953"/>
              <a:ext cx="3003592" cy="417230"/>
            </a:xfrm>
            <a:prstGeom prst="rect">
              <a:avLst/>
            </a:prstGeom>
          </p:spPr>
          <p:txBody>
            <a:bodyPr wrap="square" lIns="0" tIns="0" rIns="0" bIns="0" rtlCol="0" anchor="t">
              <a:spAutoFit/>
            </a:bodyPr>
            <a:lstStyle/>
            <a:p>
              <a:pPr algn="l">
                <a:lnSpc>
                  <a:spcPts val="3359"/>
                </a:lnSpc>
              </a:pPr>
              <a:r>
                <a:rPr lang="en-US" sz="2500"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Results Overview </a:t>
              </a:r>
            </a:p>
          </p:txBody>
        </p:sp>
      </p:grpSp>
      <p:grpSp>
        <p:nvGrpSpPr>
          <p:cNvPr id="117" name="Group 116">
            <a:extLst>
              <a:ext uri="{FF2B5EF4-FFF2-40B4-BE49-F238E27FC236}">
                <a16:creationId xmlns:a16="http://schemas.microsoft.com/office/drawing/2014/main" id="{AB3BC3B1-428B-BF90-4DDF-073491BD0F59}"/>
              </a:ext>
            </a:extLst>
          </p:cNvPr>
          <p:cNvGrpSpPr/>
          <p:nvPr/>
        </p:nvGrpSpPr>
        <p:grpSpPr>
          <a:xfrm>
            <a:off x="7063740" y="4057910"/>
            <a:ext cx="4160520" cy="1209147"/>
            <a:chOff x="1930815" y="2980912"/>
            <a:chExt cx="4812032" cy="1209147"/>
          </a:xfrm>
        </p:grpSpPr>
        <p:grpSp>
          <p:nvGrpSpPr>
            <p:cNvPr id="118" name="Group 6">
              <a:extLst>
                <a:ext uri="{FF2B5EF4-FFF2-40B4-BE49-F238E27FC236}">
                  <a16:creationId xmlns:a16="http://schemas.microsoft.com/office/drawing/2014/main" id="{21223691-A957-BF5E-4B31-A9CB376D414E}"/>
                </a:ext>
              </a:extLst>
            </p:cNvPr>
            <p:cNvGrpSpPr/>
            <p:nvPr/>
          </p:nvGrpSpPr>
          <p:grpSpPr>
            <a:xfrm>
              <a:off x="1930815" y="2980912"/>
              <a:ext cx="4812032" cy="1209147"/>
              <a:chOff x="0" y="0"/>
              <a:chExt cx="1090119" cy="217608"/>
            </a:xfrm>
          </p:grpSpPr>
          <p:sp>
            <p:nvSpPr>
              <p:cNvPr id="121" name="Freeform 7">
                <a:extLst>
                  <a:ext uri="{FF2B5EF4-FFF2-40B4-BE49-F238E27FC236}">
                    <a16:creationId xmlns:a16="http://schemas.microsoft.com/office/drawing/2014/main" id="{91432724-7BC3-3680-8D1B-997EACECBE73}"/>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pPr algn="ctr"/>
                <a:endParaRPr lang="en-US">
                  <a:latin typeface="Times New Roman" panose="02020603050405020304" pitchFamily="18" charset="0"/>
                  <a:cs typeface="Times New Roman" panose="02020603050405020304" pitchFamily="18" charset="0"/>
                </a:endParaRPr>
              </a:p>
            </p:txBody>
          </p:sp>
          <p:sp>
            <p:nvSpPr>
              <p:cNvPr id="122" name="TextBox 8">
                <a:extLst>
                  <a:ext uri="{FF2B5EF4-FFF2-40B4-BE49-F238E27FC236}">
                    <a16:creationId xmlns:a16="http://schemas.microsoft.com/office/drawing/2014/main" id="{70837C74-AA06-6D06-BA46-280D6FBA6B0A}"/>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119" name="TextBox 9">
              <a:extLst>
                <a:ext uri="{FF2B5EF4-FFF2-40B4-BE49-F238E27FC236}">
                  <a16:creationId xmlns:a16="http://schemas.microsoft.com/office/drawing/2014/main" id="{D11D3D43-0D5D-4FC3-F170-B87146BB0FF7}"/>
                </a:ext>
              </a:extLst>
            </p:cNvPr>
            <p:cNvSpPr txBox="1"/>
            <p:nvPr/>
          </p:nvSpPr>
          <p:spPr>
            <a:xfrm>
              <a:off x="2168811" y="3262587"/>
              <a:ext cx="830611" cy="615553"/>
            </a:xfrm>
            <a:prstGeom prst="rect">
              <a:avLst/>
            </a:prstGeom>
          </p:spPr>
          <p:txBody>
            <a:bodyPr lIns="0" tIns="0" rIns="0" bIns="0" rtlCol="0" anchor="t">
              <a:spAutoFit/>
            </a:bodyPr>
            <a:lstStyle/>
            <a:p>
              <a:pPr algn="ctr">
                <a:lnSpc>
                  <a:spcPts val="4800"/>
                </a:lnSpc>
              </a:pPr>
              <a:r>
                <a:rPr lang="en-US" sz="4500" spc="192" dirty="0">
                  <a:solidFill>
                    <a:srgbClr val="5B19EC"/>
                  </a:solidFill>
                  <a:latin typeface="Times New Roman" panose="02020603050405020304" pitchFamily="18" charset="0"/>
                  <a:ea typeface="Maragsa"/>
                  <a:cs typeface="Times New Roman" panose="02020603050405020304" pitchFamily="18" charset="0"/>
                  <a:sym typeface="Maragsa"/>
                </a:rPr>
                <a:t>05</a:t>
              </a:r>
            </a:p>
          </p:txBody>
        </p:sp>
        <p:sp>
          <p:nvSpPr>
            <p:cNvPr id="120" name="TextBox 10">
              <a:extLst>
                <a:ext uri="{FF2B5EF4-FFF2-40B4-BE49-F238E27FC236}">
                  <a16:creationId xmlns:a16="http://schemas.microsoft.com/office/drawing/2014/main" id="{31A60816-08A1-46EA-3654-76B96D5C9B25}"/>
                </a:ext>
              </a:extLst>
            </p:cNvPr>
            <p:cNvSpPr txBox="1"/>
            <p:nvPr/>
          </p:nvSpPr>
          <p:spPr>
            <a:xfrm>
              <a:off x="3304264" y="3174953"/>
              <a:ext cx="3147745" cy="417230"/>
            </a:xfrm>
            <a:prstGeom prst="rect">
              <a:avLst/>
            </a:prstGeom>
          </p:spPr>
          <p:txBody>
            <a:bodyPr wrap="square" lIns="0" tIns="0" rIns="0" bIns="0" rtlCol="0" anchor="t">
              <a:spAutoFit/>
            </a:bodyPr>
            <a:lstStyle/>
            <a:p>
              <a:pPr algn="l">
                <a:lnSpc>
                  <a:spcPts val="3359"/>
                </a:lnSpc>
              </a:pPr>
              <a:r>
                <a:rPr lang="en-US" sz="2500"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Descriptive Statistics </a:t>
              </a:r>
            </a:p>
          </p:txBody>
        </p:sp>
      </p:grpSp>
      <p:grpSp>
        <p:nvGrpSpPr>
          <p:cNvPr id="123" name="Group 122">
            <a:extLst>
              <a:ext uri="{FF2B5EF4-FFF2-40B4-BE49-F238E27FC236}">
                <a16:creationId xmlns:a16="http://schemas.microsoft.com/office/drawing/2014/main" id="{990980B9-3F47-7AF5-57A4-22C6518F6CE5}"/>
              </a:ext>
            </a:extLst>
          </p:cNvPr>
          <p:cNvGrpSpPr/>
          <p:nvPr/>
        </p:nvGrpSpPr>
        <p:grpSpPr>
          <a:xfrm>
            <a:off x="12675870" y="4038464"/>
            <a:ext cx="4160520" cy="1209147"/>
            <a:chOff x="1930815" y="2980912"/>
            <a:chExt cx="4812032" cy="1209147"/>
          </a:xfrm>
        </p:grpSpPr>
        <p:grpSp>
          <p:nvGrpSpPr>
            <p:cNvPr id="124" name="Group 6">
              <a:extLst>
                <a:ext uri="{FF2B5EF4-FFF2-40B4-BE49-F238E27FC236}">
                  <a16:creationId xmlns:a16="http://schemas.microsoft.com/office/drawing/2014/main" id="{22BDC600-0445-CF6D-C90D-5920EE4FC3CC}"/>
                </a:ext>
              </a:extLst>
            </p:cNvPr>
            <p:cNvGrpSpPr/>
            <p:nvPr/>
          </p:nvGrpSpPr>
          <p:grpSpPr>
            <a:xfrm>
              <a:off x="1930815" y="2980912"/>
              <a:ext cx="4812032" cy="1209147"/>
              <a:chOff x="0" y="0"/>
              <a:chExt cx="1090119" cy="217608"/>
            </a:xfrm>
          </p:grpSpPr>
          <p:sp>
            <p:nvSpPr>
              <p:cNvPr id="127" name="Freeform 7">
                <a:extLst>
                  <a:ext uri="{FF2B5EF4-FFF2-40B4-BE49-F238E27FC236}">
                    <a16:creationId xmlns:a16="http://schemas.microsoft.com/office/drawing/2014/main" id="{69E6BDA2-5B32-7CCF-FB53-0CDC45796840}"/>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pPr algn="ctr"/>
                <a:endParaRPr lang="en-US">
                  <a:latin typeface="Times New Roman" panose="02020603050405020304" pitchFamily="18" charset="0"/>
                  <a:cs typeface="Times New Roman" panose="02020603050405020304" pitchFamily="18" charset="0"/>
                </a:endParaRPr>
              </a:p>
            </p:txBody>
          </p:sp>
          <p:sp>
            <p:nvSpPr>
              <p:cNvPr id="128" name="TextBox 8">
                <a:extLst>
                  <a:ext uri="{FF2B5EF4-FFF2-40B4-BE49-F238E27FC236}">
                    <a16:creationId xmlns:a16="http://schemas.microsoft.com/office/drawing/2014/main" id="{E104F5A1-087D-62CE-68F3-E21D50DF4ABB}"/>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125" name="TextBox 9">
              <a:extLst>
                <a:ext uri="{FF2B5EF4-FFF2-40B4-BE49-F238E27FC236}">
                  <a16:creationId xmlns:a16="http://schemas.microsoft.com/office/drawing/2014/main" id="{15FA0BFC-5948-DC39-B1D3-22043DC79509}"/>
                </a:ext>
              </a:extLst>
            </p:cNvPr>
            <p:cNvSpPr txBox="1"/>
            <p:nvPr/>
          </p:nvSpPr>
          <p:spPr>
            <a:xfrm>
              <a:off x="2168811" y="3262587"/>
              <a:ext cx="830611" cy="615553"/>
            </a:xfrm>
            <a:prstGeom prst="rect">
              <a:avLst/>
            </a:prstGeom>
          </p:spPr>
          <p:txBody>
            <a:bodyPr lIns="0" tIns="0" rIns="0" bIns="0" rtlCol="0" anchor="t">
              <a:spAutoFit/>
            </a:bodyPr>
            <a:lstStyle/>
            <a:p>
              <a:pPr algn="ctr">
                <a:lnSpc>
                  <a:spcPts val="4800"/>
                </a:lnSpc>
              </a:pPr>
              <a:r>
                <a:rPr lang="en-US" sz="4500" spc="192" dirty="0">
                  <a:solidFill>
                    <a:srgbClr val="5B19EC"/>
                  </a:solidFill>
                  <a:latin typeface="Times New Roman" panose="02020603050405020304" pitchFamily="18" charset="0"/>
                  <a:ea typeface="Maragsa"/>
                  <a:cs typeface="Times New Roman" panose="02020603050405020304" pitchFamily="18" charset="0"/>
                  <a:sym typeface="Maragsa"/>
                </a:rPr>
                <a:t>06</a:t>
              </a:r>
            </a:p>
          </p:txBody>
        </p:sp>
        <p:sp>
          <p:nvSpPr>
            <p:cNvPr id="126" name="TextBox 10">
              <a:extLst>
                <a:ext uri="{FF2B5EF4-FFF2-40B4-BE49-F238E27FC236}">
                  <a16:creationId xmlns:a16="http://schemas.microsoft.com/office/drawing/2014/main" id="{85361D03-749C-C49E-81C1-C5F32CE596DA}"/>
                </a:ext>
              </a:extLst>
            </p:cNvPr>
            <p:cNvSpPr txBox="1"/>
            <p:nvPr/>
          </p:nvSpPr>
          <p:spPr>
            <a:xfrm>
              <a:off x="3304264" y="3174953"/>
              <a:ext cx="3420956" cy="853247"/>
            </a:xfrm>
            <a:prstGeom prst="rect">
              <a:avLst/>
            </a:prstGeom>
          </p:spPr>
          <p:txBody>
            <a:bodyPr wrap="square" lIns="0" tIns="0" rIns="0" bIns="0" rtlCol="0" anchor="t">
              <a:spAutoFit/>
            </a:bodyPr>
            <a:lstStyle/>
            <a:p>
              <a:pPr algn="l">
                <a:lnSpc>
                  <a:spcPts val="3359"/>
                </a:lnSpc>
              </a:pPr>
              <a:r>
                <a:rPr lang="en-US" sz="2500"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Demand Distribution Observations </a:t>
              </a:r>
            </a:p>
          </p:txBody>
        </p:sp>
      </p:grpSp>
      <p:grpSp>
        <p:nvGrpSpPr>
          <p:cNvPr id="129" name="Group 128">
            <a:extLst>
              <a:ext uri="{FF2B5EF4-FFF2-40B4-BE49-F238E27FC236}">
                <a16:creationId xmlns:a16="http://schemas.microsoft.com/office/drawing/2014/main" id="{8C6F05BF-353F-096B-4E16-8E9F9663F5D3}"/>
              </a:ext>
            </a:extLst>
          </p:cNvPr>
          <p:cNvGrpSpPr/>
          <p:nvPr/>
        </p:nvGrpSpPr>
        <p:grpSpPr>
          <a:xfrm>
            <a:off x="1451610" y="5809578"/>
            <a:ext cx="4160520" cy="1209147"/>
            <a:chOff x="1930815" y="2980912"/>
            <a:chExt cx="4812032" cy="1209147"/>
          </a:xfrm>
        </p:grpSpPr>
        <p:grpSp>
          <p:nvGrpSpPr>
            <p:cNvPr id="130" name="Group 6">
              <a:extLst>
                <a:ext uri="{FF2B5EF4-FFF2-40B4-BE49-F238E27FC236}">
                  <a16:creationId xmlns:a16="http://schemas.microsoft.com/office/drawing/2014/main" id="{6C111FB5-7142-7FC3-6166-96C2AA1BD937}"/>
                </a:ext>
              </a:extLst>
            </p:cNvPr>
            <p:cNvGrpSpPr/>
            <p:nvPr/>
          </p:nvGrpSpPr>
          <p:grpSpPr>
            <a:xfrm>
              <a:off x="1930815" y="2980912"/>
              <a:ext cx="4812032" cy="1209147"/>
              <a:chOff x="0" y="0"/>
              <a:chExt cx="1090119" cy="217608"/>
            </a:xfrm>
          </p:grpSpPr>
          <p:sp>
            <p:nvSpPr>
              <p:cNvPr id="133" name="Freeform 7">
                <a:extLst>
                  <a:ext uri="{FF2B5EF4-FFF2-40B4-BE49-F238E27FC236}">
                    <a16:creationId xmlns:a16="http://schemas.microsoft.com/office/drawing/2014/main" id="{A4397AE5-458F-2010-63B5-48C99A3D971E}"/>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pPr algn="ctr"/>
                <a:endParaRPr lang="en-US" dirty="0">
                  <a:latin typeface="Times New Roman" panose="02020603050405020304" pitchFamily="18" charset="0"/>
                  <a:cs typeface="Times New Roman" panose="02020603050405020304" pitchFamily="18" charset="0"/>
                </a:endParaRPr>
              </a:p>
            </p:txBody>
          </p:sp>
          <p:sp>
            <p:nvSpPr>
              <p:cNvPr id="134" name="TextBox 8">
                <a:extLst>
                  <a:ext uri="{FF2B5EF4-FFF2-40B4-BE49-F238E27FC236}">
                    <a16:creationId xmlns:a16="http://schemas.microsoft.com/office/drawing/2014/main" id="{F5FF7286-2690-1403-2C3D-063F728C058B}"/>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131" name="TextBox 9">
              <a:extLst>
                <a:ext uri="{FF2B5EF4-FFF2-40B4-BE49-F238E27FC236}">
                  <a16:creationId xmlns:a16="http://schemas.microsoft.com/office/drawing/2014/main" id="{93CD9907-90D2-9C0A-BF81-AF85E8B3AAFA}"/>
                </a:ext>
              </a:extLst>
            </p:cNvPr>
            <p:cNvSpPr txBox="1"/>
            <p:nvPr/>
          </p:nvSpPr>
          <p:spPr>
            <a:xfrm>
              <a:off x="2168811" y="3262587"/>
              <a:ext cx="830611" cy="615553"/>
            </a:xfrm>
            <a:prstGeom prst="rect">
              <a:avLst/>
            </a:prstGeom>
          </p:spPr>
          <p:txBody>
            <a:bodyPr lIns="0" tIns="0" rIns="0" bIns="0" rtlCol="0" anchor="t">
              <a:spAutoFit/>
            </a:bodyPr>
            <a:lstStyle/>
            <a:p>
              <a:pPr algn="ctr">
                <a:lnSpc>
                  <a:spcPts val="4800"/>
                </a:lnSpc>
              </a:pPr>
              <a:r>
                <a:rPr lang="en-US" sz="4500" spc="192" dirty="0">
                  <a:solidFill>
                    <a:srgbClr val="5B19EC"/>
                  </a:solidFill>
                  <a:latin typeface="Times New Roman" panose="02020603050405020304" pitchFamily="18" charset="0"/>
                  <a:ea typeface="Maragsa"/>
                  <a:cs typeface="Times New Roman" panose="02020603050405020304" pitchFamily="18" charset="0"/>
                  <a:sym typeface="Maragsa"/>
                </a:rPr>
                <a:t>07</a:t>
              </a:r>
            </a:p>
          </p:txBody>
        </p:sp>
        <p:sp>
          <p:nvSpPr>
            <p:cNvPr id="132" name="TextBox 10">
              <a:extLst>
                <a:ext uri="{FF2B5EF4-FFF2-40B4-BE49-F238E27FC236}">
                  <a16:creationId xmlns:a16="http://schemas.microsoft.com/office/drawing/2014/main" id="{2637B750-611D-99F9-F533-A0D4EC0663F7}"/>
                </a:ext>
              </a:extLst>
            </p:cNvPr>
            <p:cNvSpPr txBox="1"/>
            <p:nvPr/>
          </p:nvSpPr>
          <p:spPr>
            <a:xfrm>
              <a:off x="3304264" y="3174953"/>
              <a:ext cx="3003592" cy="853247"/>
            </a:xfrm>
            <a:prstGeom prst="rect">
              <a:avLst/>
            </a:prstGeom>
          </p:spPr>
          <p:txBody>
            <a:bodyPr wrap="square" lIns="0" tIns="0" rIns="0" bIns="0" rtlCol="0" anchor="t">
              <a:spAutoFit/>
            </a:bodyPr>
            <a:lstStyle/>
            <a:p>
              <a:pPr algn="l">
                <a:lnSpc>
                  <a:spcPts val="3359"/>
                </a:lnSpc>
              </a:pPr>
              <a:r>
                <a:rPr lang="en-US" sz="2500"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Business Strategy Insights </a:t>
              </a:r>
            </a:p>
          </p:txBody>
        </p:sp>
      </p:grpSp>
      <p:grpSp>
        <p:nvGrpSpPr>
          <p:cNvPr id="135" name="Group 134">
            <a:extLst>
              <a:ext uri="{FF2B5EF4-FFF2-40B4-BE49-F238E27FC236}">
                <a16:creationId xmlns:a16="http://schemas.microsoft.com/office/drawing/2014/main" id="{2E244A21-70C5-C248-EC99-315B877CA384}"/>
              </a:ext>
            </a:extLst>
          </p:cNvPr>
          <p:cNvGrpSpPr/>
          <p:nvPr/>
        </p:nvGrpSpPr>
        <p:grpSpPr>
          <a:xfrm>
            <a:off x="7063740" y="5791719"/>
            <a:ext cx="4160520" cy="1209147"/>
            <a:chOff x="1930815" y="2980912"/>
            <a:chExt cx="4812032" cy="1209147"/>
          </a:xfrm>
        </p:grpSpPr>
        <p:grpSp>
          <p:nvGrpSpPr>
            <p:cNvPr id="136" name="Group 6">
              <a:extLst>
                <a:ext uri="{FF2B5EF4-FFF2-40B4-BE49-F238E27FC236}">
                  <a16:creationId xmlns:a16="http://schemas.microsoft.com/office/drawing/2014/main" id="{BF3A8C81-18F8-DC4C-EBA7-1453B0F2ADC4}"/>
                </a:ext>
              </a:extLst>
            </p:cNvPr>
            <p:cNvGrpSpPr/>
            <p:nvPr/>
          </p:nvGrpSpPr>
          <p:grpSpPr>
            <a:xfrm>
              <a:off x="1930815" y="2980912"/>
              <a:ext cx="4812032" cy="1209147"/>
              <a:chOff x="0" y="0"/>
              <a:chExt cx="1090119" cy="217608"/>
            </a:xfrm>
          </p:grpSpPr>
          <p:sp>
            <p:nvSpPr>
              <p:cNvPr id="139" name="Freeform 7">
                <a:extLst>
                  <a:ext uri="{FF2B5EF4-FFF2-40B4-BE49-F238E27FC236}">
                    <a16:creationId xmlns:a16="http://schemas.microsoft.com/office/drawing/2014/main" id="{CB4141AE-86A4-DE57-6EAD-CFDAF0F49C8D}"/>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pPr algn="ctr"/>
                <a:endParaRPr lang="en-US">
                  <a:latin typeface="Times New Roman" panose="02020603050405020304" pitchFamily="18" charset="0"/>
                  <a:cs typeface="Times New Roman" panose="02020603050405020304" pitchFamily="18" charset="0"/>
                </a:endParaRPr>
              </a:p>
            </p:txBody>
          </p:sp>
          <p:sp>
            <p:nvSpPr>
              <p:cNvPr id="140" name="TextBox 8">
                <a:extLst>
                  <a:ext uri="{FF2B5EF4-FFF2-40B4-BE49-F238E27FC236}">
                    <a16:creationId xmlns:a16="http://schemas.microsoft.com/office/drawing/2014/main" id="{79C3B0A7-3E50-6DC6-4B42-122D8C2F131F}"/>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137" name="TextBox 9">
              <a:extLst>
                <a:ext uri="{FF2B5EF4-FFF2-40B4-BE49-F238E27FC236}">
                  <a16:creationId xmlns:a16="http://schemas.microsoft.com/office/drawing/2014/main" id="{B39B6C8C-8BC2-801C-DD88-FFF090115606}"/>
                </a:ext>
              </a:extLst>
            </p:cNvPr>
            <p:cNvSpPr txBox="1"/>
            <p:nvPr/>
          </p:nvSpPr>
          <p:spPr>
            <a:xfrm>
              <a:off x="2168811" y="3262587"/>
              <a:ext cx="830611" cy="615553"/>
            </a:xfrm>
            <a:prstGeom prst="rect">
              <a:avLst/>
            </a:prstGeom>
          </p:spPr>
          <p:txBody>
            <a:bodyPr lIns="0" tIns="0" rIns="0" bIns="0" rtlCol="0" anchor="t">
              <a:spAutoFit/>
            </a:bodyPr>
            <a:lstStyle/>
            <a:p>
              <a:pPr algn="ctr">
                <a:lnSpc>
                  <a:spcPts val="4800"/>
                </a:lnSpc>
              </a:pPr>
              <a:r>
                <a:rPr lang="en-US" sz="4500" spc="192" dirty="0">
                  <a:solidFill>
                    <a:srgbClr val="5B19EC"/>
                  </a:solidFill>
                  <a:latin typeface="Times New Roman" panose="02020603050405020304" pitchFamily="18" charset="0"/>
                  <a:ea typeface="Maragsa"/>
                  <a:cs typeface="Times New Roman" panose="02020603050405020304" pitchFamily="18" charset="0"/>
                  <a:sym typeface="Maragsa"/>
                </a:rPr>
                <a:t>08</a:t>
              </a:r>
            </a:p>
          </p:txBody>
        </p:sp>
        <p:sp>
          <p:nvSpPr>
            <p:cNvPr id="138" name="TextBox 10">
              <a:extLst>
                <a:ext uri="{FF2B5EF4-FFF2-40B4-BE49-F238E27FC236}">
                  <a16:creationId xmlns:a16="http://schemas.microsoft.com/office/drawing/2014/main" id="{761EDAAE-0FF2-489C-8542-E30A63ABDCA7}"/>
                </a:ext>
              </a:extLst>
            </p:cNvPr>
            <p:cNvSpPr txBox="1"/>
            <p:nvPr/>
          </p:nvSpPr>
          <p:spPr>
            <a:xfrm>
              <a:off x="3304264" y="3174953"/>
              <a:ext cx="3147745" cy="853247"/>
            </a:xfrm>
            <a:prstGeom prst="rect">
              <a:avLst/>
            </a:prstGeom>
          </p:spPr>
          <p:txBody>
            <a:bodyPr wrap="square" lIns="0" tIns="0" rIns="0" bIns="0" rtlCol="0" anchor="t">
              <a:spAutoFit/>
            </a:bodyPr>
            <a:lstStyle/>
            <a:p>
              <a:pPr algn="l">
                <a:lnSpc>
                  <a:spcPts val="3359"/>
                </a:lnSpc>
              </a:pPr>
              <a:r>
                <a:rPr lang="en-US" sz="2500"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Inferential Analysis &amp; Statistical Tests </a:t>
              </a:r>
            </a:p>
          </p:txBody>
        </p:sp>
      </p:grpSp>
      <p:grpSp>
        <p:nvGrpSpPr>
          <p:cNvPr id="141" name="Group 140">
            <a:extLst>
              <a:ext uri="{FF2B5EF4-FFF2-40B4-BE49-F238E27FC236}">
                <a16:creationId xmlns:a16="http://schemas.microsoft.com/office/drawing/2014/main" id="{E4CF9E15-607F-FC2F-7C2A-E0EA2C42010B}"/>
              </a:ext>
            </a:extLst>
          </p:cNvPr>
          <p:cNvGrpSpPr/>
          <p:nvPr/>
        </p:nvGrpSpPr>
        <p:grpSpPr>
          <a:xfrm>
            <a:off x="12675870" y="5752828"/>
            <a:ext cx="4160520" cy="1209147"/>
            <a:chOff x="1930815" y="2980912"/>
            <a:chExt cx="4812032" cy="1209147"/>
          </a:xfrm>
        </p:grpSpPr>
        <p:grpSp>
          <p:nvGrpSpPr>
            <p:cNvPr id="142" name="Group 6">
              <a:extLst>
                <a:ext uri="{FF2B5EF4-FFF2-40B4-BE49-F238E27FC236}">
                  <a16:creationId xmlns:a16="http://schemas.microsoft.com/office/drawing/2014/main" id="{9CA38409-4679-73EB-6D4D-C5CE3FB1C65B}"/>
                </a:ext>
              </a:extLst>
            </p:cNvPr>
            <p:cNvGrpSpPr/>
            <p:nvPr/>
          </p:nvGrpSpPr>
          <p:grpSpPr>
            <a:xfrm>
              <a:off x="1930815" y="2980912"/>
              <a:ext cx="4812032" cy="1209147"/>
              <a:chOff x="0" y="0"/>
              <a:chExt cx="1090119" cy="217608"/>
            </a:xfrm>
          </p:grpSpPr>
          <p:sp>
            <p:nvSpPr>
              <p:cNvPr id="145" name="Freeform 7">
                <a:extLst>
                  <a:ext uri="{FF2B5EF4-FFF2-40B4-BE49-F238E27FC236}">
                    <a16:creationId xmlns:a16="http://schemas.microsoft.com/office/drawing/2014/main" id="{3D025ED8-3AE8-86F7-F0F1-9AB505F677AB}"/>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pPr algn="ctr"/>
                <a:endParaRPr lang="en-US">
                  <a:latin typeface="Times New Roman" panose="02020603050405020304" pitchFamily="18" charset="0"/>
                  <a:cs typeface="Times New Roman" panose="02020603050405020304" pitchFamily="18" charset="0"/>
                </a:endParaRPr>
              </a:p>
            </p:txBody>
          </p:sp>
          <p:sp>
            <p:nvSpPr>
              <p:cNvPr id="146" name="TextBox 8">
                <a:extLst>
                  <a:ext uri="{FF2B5EF4-FFF2-40B4-BE49-F238E27FC236}">
                    <a16:creationId xmlns:a16="http://schemas.microsoft.com/office/drawing/2014/main" id="{4893E883-EE09-54CD-0455-E4F8251B1FD2}"/>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143" name="TextBox 9">
              <a:extLst>
                <a:ext uri="{FF2B5EF4-FFF2-40B4-BE49-F238E27FC236}">
                  <a16:creationId xmlns:a16="http://schemas.microsoft.com/office/drawing/2014/main" id="{6D657C88-B22E-3F18-8267-2805FCE249BE}"/>
                </a:ext>
              </a:extLst>
            </p:cNvPr>
            <p:cNvSpPr txBox="1"/>
            <p:nvPr/>
          </p:nvSpPr>
          <p:spPr>
            <a:xfrm>
              <a:off x="2168811" y="3262587"/>
              <a:ext cx="830611" cy="615553"/>
            </a:xfrm>
            <a:prstGeom prst="rect">
              <a:avLst/>
            </a:prstGeom>
          </p:spPr>
          <p:txBody>
            <a:bodyPr lIns="0" tIns="0" rIns="0" bIns="0" rtlCol="0" anchor="t">
              <a:spAutoFit/>
            </a:bodyPr>
            <a:lstStyle/>
            <a:p>
              <a:pPr algn="ctr">
                <a:lnSpc>
                  <a:spcPts val="4800"/>
                </a:lnSpc>
              </a:pPr>
              <a:r>
                <a:rPr lang="en-US" sz="4500" spc="192" dirty="0">
                  <a:solidFill>
                    <a:srgbClr val="5B19EC"/>
                  </a:solidFill>
                  <a:latin typeface="Times New Roman" panose="02020603050405020304" pitchFamily="18" charset="0"/>
                  <a:ea typeface="Maragsa"/>
                  <a:cs typeface="Times New Roman" panose="02020603050405020304" pitchFamily="18" charset="0"/>
                  <a:sym typeface="Maragsa"/>
                </a:rPr>
                <a:t>09</a:t>
              </a:r>
            </a:p>
          </p:txBody>
        </p:sp>
        <p:sp>
          <p:nvSpPr>
            <p:cNvPr id="144" name="TextBox 10">
              <a:extLst>
                <a:ext uri="{FF2B5EF4-FFF2-40B4-BE49-F238E27FC236}">
                  <a16:creationId xmlns:a16="http://schemas.microsoft.com/office/drawing/2014/main" id="{3943A003-C8A5-50D2-2683-1AE37B6E2105}"/>
                </a:ext>
              </a:extLst>
            </p:cNvPr>
            <p:cNvSpPr txBox="1"/>
            <p:nvPr/>
          </p:nvSpPr>
          <p:spPr>
            <a:xfrm>
              <a:off x="3304264" y="3174953"/>
              <a:ext cx="3420956" cy="853247"/>
            </a:xfrm>
            <a:prstGeom prst="rect">
              <a:avLst/>
            </a:prstGeom>
          </p:spPr>
          <p:txBody>
            <a:bodyPr wrap="square" lIns="0" tIns="0" rIns="0" bIns="0" rtlCol="0" anchor="t">
              <a:spAutoFit/>
            </a:bodyPr>
            <a:lstStyle/>
            <a:p>
              <a:pPr algn="l">
                <a:lnSpc>
                  <a:spcPts val="3359"/>
                </a:lnSpc>
              </a:pPr>
              <a:r>
                <a:rPr lang="en-US" sz="2500"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ARIMAX Model Analysis </a:t>
              </a:r>
            </a:p>
          </p:txBody>
        </p:sp>
      </p:grpSp>
      <p:grpSp>
        <p:nvGrpSpPr>
          <p:cNvPr id="147" name="Group 146">
            <a:extLst>
              <a:ext uri="{FF2B5EF4-FFF2-40B4-BE49-F238E27FC236}">
                <a16:creationId xmlns:a16="http://schemas.microsoft.com/office/drawing/2014/main" id="{35449043-E27A-DE31-CF7A-7260D629CE30}"/>
              </a:ext>
            </a:extLst>
          </p:cNvPr>
          <p:cNvGrpSpPr/>
          <p:nvPr/>
        </p:nvGrpSpPr>
        <p:grpSpPr>
          <a:xfrm>
            <a:off x="3322320" y="7552318"/>
            <a:ext cx="4160520" cy="1209147"/>
            <a:chOff x="1930815" y="2980912"/>
            <a:chExt cx="4812032" cy="1209147"/>
          </a:xfrm>
        </p:grpSpPr>
        <p:grpSp>
          <p:nvGrpSpPr>
            <p:cNvPr id="148" name="Group 6">
              <a:extLst>
                <a:ext uri="{FF2B5EF4-FFF2-40B4-BE49-F238E27FC236}">
                  <a16:creationId xmlns:a16="http://schemas.microsoft.com/office/drawing/2014/main" id="{3889C21D-58F1-868C-9EC9-851B1E0227B1}"/>
                </a:ext>
              </a:extLst>
            </p:cNvPr>
            <p:cNvGrpSpPr/>
            <p:nvPr/>
          </p:nvGrpSpPr>
          <p:grpSpPr>
            <a:xfrm>
              <a:off x="1930815" y="2980912"/>
              <a:ext cx="4812032" cy="1209147"/>
              <a:chOff x="0" y="0"/>
              <a:chExt cx="1090119" cy="217608"/>
            </a:xfrm>
          </p:grpSpPr>
          <p:sp>
            <p:nvSpPr>
              <p:cNvPr id="151" name="Freeform 7">
                <a:extLst>
                  <a:ext uri="{FF2B5EF4-FFF2-40B4-BE49-F238E27FC236}">
                    <a16:creationId xmlns:a16="http://schemas.microsoft.com/office/drawing/2014/main" id="{AE4127D9-59FD-C326-0531-CA1E8C2E0DCE}"/>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pPr algn="ctr"/>
                <a:endParaRPr lang="en-US">
                  <a:latin typeface="Times New Roman" panose="02020603050405020304" pitchFamily="18" charset="0"/>
                  <a:cs typeface="Times New Roman" panose="02020603050405020304" pitchFamily="18" charset="0"/>
                </a:endParaRPr>
              </a:p>
            </p:txBody>
          </p:sp>
          <p:sp>
            <p:nvSpPr>
              <p:cNvPr id="152" name="TextBox 8">
                <a:extLst>
                  <a:ext uri="{FF2B5EF4-FFF2-40B4-BE49-F238E27FC236}">
                    <a16:creationId xmlns:a16="http://schemas.microsoft.com/office/drawing/2014/main" id="{BD827DB5-B506-15E8-7BE1-20F8A0F45FE9}"/>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149" name="TextBox 9">
              <a:extLst>
                <a:ext uri="{FF2B5EF4-FFF2-40B4-BE49-F238E27FC236}">
                  <a16:creationId xmlns:a16="http://schemas.microsoft.com/office/drawing/2014/main" id="{CDCB0F29-98E9-DDF0-BE87-2F3D2CD74744}"/>
                </a:ext>
              </a:extLst>
            </p:cNvPr>
            <p:cNvSpPr txBox="1"/>
            <p:nvPr/>
          </p:nvSpPr>
          <p:spPr>
            <a:xfrm>
              <a:off x="2168811" y="3262587"/>
              <a:ext cx="830611" cy="615553"/>
            </a:xfrm>
            <a:prstGeom prst="rect">
              <a:avLst/>
            </a:prstGeom>
          </p:spPr>
          <p:txBody>
            <a:bodyPr lIns="0" tIns="0" rIns="0" bIns="0" rtlCol="0" anchor="t">
              <a:spAutoFit/>
            </a:bodyPr>
            <a:lstStyle/>
            <a:p>
              <a:pPr algn="ctr">
                <a:lnSpc>
                  <a:spcPts val="4800"/>
                </a:lnSpc>
              </a:pPr>
              <a:r>
                <a:rPr lang="en-US" sz="4500" spc="192" dirty="0">
                  <a:solidFill>
                    <a:srgbClr val="5B19EC"/>
                  </a:solidFill>
                  <a:latin typeface="Times New Roman" panose="02020603050405020304" pitchFamily="18" charset="0"/>
                  <a:ea typeface="Maragsa"/>
                  <a:cs typeface="Times New Roman" panose="02020603050405020304" pitchFamily="18" charset="0"/>
                  <a:sym typeface="Maragsa"/>
                </a:rPr>
                <a:t>10</a:t>
              </a:r>
            </a:p>
          </p:txBody>
        </p:sp>
        <p:sp>
          <p:nvSpPr>
            <p:cNvPr id="150" name="TextBox 10">
              <a:extLst>
                <a:ext uri="{FF2B5EF4-FFF2-40B4-BE49-F238E27FC236}">
                  <a16:creationId xmlns:a16="http://schemas.microsoft.com/office/drawing/2014/main" id="{B79A264E-5708-AE17-CCBE-88CC74C82B8E}"/>
                </a:ext>
              </a:extLst>
            </p:cNvPr>
            <p:cNvSpPr txBox="1"/>
            <p:nvPr/>
          </p:nvSpPr>
          <p:spPr>
            <a:xfrm>
              <a:off x="3304264" y="3174953"/>
              <a:ext cx="3003592" cy="853247"/>
            </a:xfrm>
            <a:prstGeom prst="rect">
              <a:avLst/>
            </a:prstGeom>
          </p:spPr>
          <p:txBody>
            <a:bodyPr wrap="square" lIns="0" tIns="0" rIns="0" bIns="0" rtlCol="0" anchor="t">
              <a:spAutoFit/>
            </a:bodyPr>
            <a:lstStyle/>
            <a:p>
              <a:pPr algn="l">
                <a:lnSpc>
                  <a:spcPts val="3359"/>
                </a:lnSpc>
              </a:pPr>
              <a:r>
                <a:rPr lang="en-US" sz="2500"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Operational Recommendations </a:t>
              </a:r>
            </a:p>
          </p:txBody>
        </p:sp>
      </p:grpSp>
      <p:grpSp>
        <p:nvGrpSpPr>
          <p:cNvPr id="153" name="Group 152">
            <a:extLst>
              <a:ext uri="{FF2B5EF4-FFF2-40B4-BE49-F238E27FC236}">
                <a16:creationId xmlns:a16="http://schemas.microsoft.com/office/drawing/2014/main" id="{EAB4870D-0392-F632-AA99-C69471D85FF5}"/>
              </a:ext>
            </a:extLst>
          </p:cNvPr>
          <p:cNvGrpSpPr/>
          <p:nvPr/>
        </p:nvGrpSpPr>
        <p:grpSpPr>
          <a:xfrm>
            <a:off x="10805160" y="7467193"/>
            <a:ext cx="4160520" cy="1209147"/>
            <a:chOff x="1930815" y="2980912"/>
            <a:chExt cx="4812032" cy="1209147"/>
          </a:xfrm>
        </p:grpSpPr>
        <p:grpSp>
          <p:nvGrpSpPr>
            <p:cNvPr id="154" name="Group 6">
              <a:extLst>
                <a:ext uri="{FF2B5EF4-FFF2-40B4-BE49-F238E27FC236}">
                  <a16:creationId xmlns:a16="http://schemas.microsoft.com/office/drawing/2014/main" id="{7745B57D-7154-6E4D-061D-30B9DC1A3319}"/>
                </a:ext>
              </a:extLst>
            </p:cNvPr>
            <p:cNvGrpSpPr/>
            <p:nvPr/>
          </p:nvGrpSpPr>
          <p:grpSpPr>
            <a:xfrm>
              <a:off x="1930815" y="2980912"/>
              <a:ext cx="4812032" cy="1209147"/>
              <a:chOff x="0" y="0"/>
              <a:chExt cx="1090119" cy="217608"/>
            </a:xfrm>
          </p:grpSpPr>
          <p:sp>
            <p:nvSpPr>
              <p:cNvPr id="157" name="Freeform 7">
                <a:extLst>
                  <a:ext uri="{FF2B5EF4-FFF2-40B4-BE49-F238E27FC236}">
                    <a16:creationId xmlns:a16="http://schemas.microsoft.com/office/drawing/2014/main" id="{3F44EEA8-C7A6-CE2D-B1DA-C93BB4CD7D61}"/>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pPr algn="ctr"/>
                <a:endParaRPr lang="en-US">
                  <a:latin typeface="Times New Roman" panose="02020603050405020304" pitchFamily="18" charset="0"/>
                  <a:cs typeface="Times New Roman" panose="02020603050405020304" pitchFamily="18" charset="0"/>
                </a:endParaRPr>
              </a:p>
            </p:txBody>
          </p:sp>
          <p:sp>
            <p:nvSpPr>
              <p:cNvPr id="158" name="TextBox 8">
                <a:extLst>
                  <a:ext uri="{FF2B5EF4-FFF2-40B4-BE49-F238E27FC236}">
                    <a16:creationId xmlns:a16="http://schemas.microsoft.com/office/drawing/2014/main" id="{AD8DF7A7-F0D1-E9F0-A345-8DA0F87C0E9E}"/>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155" name="TextBox 9">
              <a:extLst>
                <a:ext uri="{FF2B5EF4-FFF2-40B4-BE49-F238E27FC236}">
                  <a16:creationId xmlns:a16="http://schemas.microsoft.com/office/drawing/2014/main" id="{9F81D9BD-D27F-B466-BC22-FA69F80B110F}"/>
                </a:ext>
              </a:extLst>
            </p:cNvPr>
            <p:cNvSpPr txBox="1"/>
            <p:nvPr/>
          </p:nvSpPr>
          <p:spPr>
            <a:xfrm>
              <a:off x="2168811" y="3262587"/>
              <a:ext cx="830611" cy="615553"/>
            </a:xfrm>
            <a:prstGeom prst="rect">
              <a:avLst/>
            </a:prstGeom>
          </p:spPr>
          <p:txBody>
            <a:bodyPr lIns="0" tIns="0" rIns="0" bIns="0" rtlCol="0" anchor="t">
              <a:spAutoFit/>
            </a:bodyPr>
            <a:lstStyle/>
            <a:p>
              <a:pPr algn="ctr">
                <a:lnSpc>
                  <a:spcPts val="4800"/>
                </a:lnSpc>
              </a:pPr>
              <a:r>
                <a:rPr lang="en-US" sz="4500" spc="192" dirty="0">
                  <a:solidFill>
                    <a:srgbClr val="5B19EC"/>
                  </a:solidFill>
                  <a:latin typeface="Times New Roman" panose="02020603050405020304" pitchFamily="18" charset="0"/>
                  <a:ea typeface="Maragsa"/>
                  <a:cs typeface="Times New Roman" panose="02020603050405020304" pitchFamily="18" charset="0"/>
                  <a:sym typeface="Maragsa"/>
                </a:rPr>
                <a:t>11</a:t>
              </a:r>
            </a:p>
          </p:txBody>
        </p:sp>
        <p:sp>
          <p:nvSpPr>
            <p:cNvPr id="156" name="TextBox 10">
              <a:extLst>
                <a:ext uri="{FF2B5EF4-FFF2-40B4-BE49-F238E27FC236}">
                  <a16:creationId xmlns:a16="http://schemas.microsoft.com/office/drawing/2014/main" id="{57431FA4-F354-EB3A-D367-096989CB29E9}"/>
                </a:ext>
              </a:extLst>
            </p:cNvPr>
            <p:cNvSpPr txBox="1"/>
            <p:nvPr/>
          </p:nvSpPr>
          <p:spPr>
            <a:xfrm>
              <a:off x="3304264" y="3174953"/>
              <a:ext cx="3147745" cy="853247"/>
            </a:xfrm>
            <a:prstGeom prst="rect">
              <a:avLst/>
            </a:prstGeom>
          </p:spPr>
          <p:txBody>
            <a:bodyPr wrap="square" lIns="0" tIns="0" rIns="0" bIns="0" rtlCol="0" anchor="t">
              <a:spAutoFit/>
            </a:bodyPr>
            <a:lstStyle/>
            <a:p>
              <a:pPr algn="l">
                <a:lnSpc>
                  <a:spcPts val="3359"/>
                </a:lnSpc>
              </a:pPr>
              <a:r>
                <a:rPr lang="en-US" sz="2500"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Strategic Insights &amp; Future Directions </a:t>
              </a:r>
            </a:p>
          </p:txBody>
        </p:sp>
      </p:grpSp>
      <p:sp>
        <p:nvSpPr>
          <p:cNvPr id="5" name="TextBox 4">
            <a:extLst>
              <a:ext uri="{FF2B5EF4-FFF2-40B4-BE49-F238E27FC236}">
                <a16:creationId xmlns:a16="http://schemas.microsoft.com/office/drawing/2014/main" id="{803470FE-746C-83FB-1F79-8DFA236CD292}"/>
              </a:ext>
            </a:extLst>
          </p:cNvPr>
          <p:cNvSpPr txBox="1"/>
          <p:nvPr/>
        </p:nvSpPr>
        <p:spPr>
          <a:xfrm>
            <a:off x="4283996" y="9303986"/>
            <a:ext cx="9144000" cy="369332"/>
          </a:xfrm>
          <a:prstGeom prst="rect">
            <a:avLst/>
          </a:prstGeom>
          <a:noFill/>
        </p:spPr>
        <p:txBody>
          <a:bodyPr wrap="square">
            <a:spAutoFit/>
          </a:bodyPr>
          <a:lstStyle/>
          <a:p>
            <a:pPr algn="ctr"/>
            <a:r>
              <a:rPr lang="en-US"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085DF-D2A3-B45B-018F-7B4FA4D14D07}"/>
            </a:ext>
          </a:extLst>
        </p:cNvPr>
        <p:cNvGrpSpPr/>
        <p:nvPr/>
      </p:nvGrpSpPr>
      <p:grpSpPr>
        <a:xfrm>
          <a:off x="0" y="0"/>
          <a:ext cx="0" cy="0"/>
          <a:chOff x="0" y="0"/>
          <a:chExt cx="0" cy="0"/>
        </a:xfrm>
      </p:grpSpPr>
      <p:sp>
        <p:nvSpPr>
          <p:cNvPr id="5" name="TextBox 5">
            <a:extLst>
              <a:ext uri="{FF2B5EF4-FFF2-40B4-BE49-F238E27FC236}">
                <a16:creationId xmlns:a16="http://schemas.microsoft.com/office/drawing/2014/main" id="{9162C15E-32F9-34FD-FDF9-B49476529FAD}"/>
              </a:ext>
            </a:extLst>
          </p:cNvPr>
          <p:cNvSpPr txBox="1"/>
          <p:nvPr/>
        </p:nvSpPr>
        <p:spPr>
          <a:xfrm>
            <a:off x="2362200" y="790915"/>
            <a:ext cx="13563600" cy="936218"/>
          </a:xfrm>
          <a:prstGeom prst="rect">
            <a:avLst/>
          </a:prstGeom>
        </p:spPr>
        <p:txBody>
          <a:bodyPr wrap="square"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Data Collection &amp; Preprocessing </a:t>
            </a:r>
          </a:p>
        </p:txBody>
      </p:sp>
      <p:sp>
        <p:nvSpPr>
          <p:cNvPr id="8" name="TextBox 8">
            <a:extLst>
              <a:ext uri="{FF2B5EF4-FFF2-40B4-BE49-F238E27FC236}">
                <a16:creationId xmlns:a16="http://schemas.microsoft.com/office/drawing/2014/main" id="{8A6BB9AD-C592-69C4-D52F-215A3D86941A}"/>
              </a:ext>
            </a:extLst>
          </p:cNvPr>
          <p:cNvSpPr txBox="1"/>
          <p:nvPr/>
        </p:nvSpPr>
        <p:spPr>
          <a:xfrm>
            <a:off x="5515894" y="8937407"/>
            <a:ext cx="7256211" cy="354777"/>
          </a:xfrm>
          <a:prstGeom prst="rect">
            <a:avLst/>
          </a:prstGeom>
        </p:spPr>
        <p:txBody>
          <a:bodyPr lIns="0" tIns="0" rIns="0" bIns="0" rtlCol="0" anchor="t">
            <a:spAutoFit/>
          </a:bodyPr>
          <a:lstStyle/>
          <a:p>
            <a:pPr algn="ctr">
              <a:lnSpc>
                <a:spcPts val="2940"/>
              </a:lnSpc>
            </a:pPr>
            <a:r>
              <a:rPr lang="en-US" sz="2100" dirty="0">
                <a:solidFill>
                  <a:srgbClr val="2B1C09"/>
                </a:solidFill>
                <a:latin typeface="Times New Roman" panose="02020603050405020304" pitchFamily="18" charset="0"/>
                <a:ea typeface="Quattrocento"/>
                <a:cs typeface="Times New Roman" panose="02020603050405020304" pitchFamily="18" charset="0"/>
                <a:sym typeface="Quattrocento"/>
              </a:rPr>
              <a:t>Fulfillment Center Info </a:t>
            </a:r>
          </a:p>
        </p:txBody>
      </p:sp>
      <p:sp>
        <p:nvSpPr>
          <p:cNvPr id="11" name="TextBox 20">
            <a:extLst>
              <a:ext uri="{FF2B5EF4-FFF2-40B4-BE49-F238E27FC236}">
                <a16:creationId xmlns:a16="http://schemas.microsoft.com/office/drawing/2014/main" id="{26A5EC23-1056-4576-896C-06B42620290C}"/>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12" name="TextBox 5">
            <a:extLst>
              <a:ext uri="{FF2B5EF4-FFF2-40B4-BE49-F238E27FC236}">
                <a16:creationId xmlns:a16="http://schemas.microsoft.com/office/drawing/2014/main" id="{FB359E57-D00A-E702-4543-69DF1E173DA7}"/>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pic>
        <p:nvPicPr>
          <p:cNvPr id="17" name="Picture 16">
            <a:extLst>
              <a:ext uri="{FF2B5EF4-FFF2-40B4-BE49-F238E27FC236}">
                <a16:creationId xmlns:a16="http://schemas.microsoft.com/office/drawing/2014/main" id="{23DD2EB1-7089-06DE-5BB3-E24C2251D285}"/>
              </a:ext>
            </a:extLst>
          </p:cNvPr>
          <p:cNvPicPr>
            <a:picLocks noChangeAspect="1"/>
          </p:cNvPicPr>
          <p:nvPr/>
        </p:nvPicPr>
        <p:blipFill>
          <a:blip r:embed="rId2"/>
          <a:stretch>
            <a:fillRect/>
          </a:stretch>
        </p:blipFill>
        <p:spPr>
          <a:xfrm>
            <a:off x="3657599" y="1861885"/>
            <a:ext cx="10972800" cy="6716388"/>
          </a:xfrm>
          <a:prstGeom prst="rect">
            <a:avLst/>
          </a:prstGeom>
        </p:spPr>
      </p:pic>
      <p:sp>
        <p:nvSpPr>
          <p:cNvPr id="3" name="TextBox 2">
            <a:extLst>
              <a:ext uri="{FF2B5EF4-FFF2-40B4-BE49-F238E27FC236}">
                <a16:creationId xmlns:a16="http://schemas.microsoft.com/office/drawing/2014/main" id="{7DDF4C33-36C1-5419-2065-B35C11FB0AC0}"/>
              </a:ext>
            </a:extLst>
          </p:cNvPr>
          <p:cNvSpPr txBox="1"/>
          <p:nvPr/>
        </p:nvSpPr>
        <p:spPr>
          <a:xfrm>
            <a:off x="17830800" y="9833943"/>
            <a:ext cx="301686" cy="369332"/>
          </a:xfrm>
          <a:prstGeom prst="rect">
            <a:avLst/>
          </a:prstGeom>
          <a:noFill/>
        </p:spPr>
        <p:txBody>
          <a:bodyPr wrap="none" rtlCol="0">
            <a:spAutoFit/>
          </a:bodyPr>
          <a:lstStyle/>
          <a:p>
            <a:r>
              <a:rPr lang="en-US" dirty="0"/>
              <a:t>3</a:t>
            </a:r>
          </a:p>
        </p:txBody>
      </p:sp>
    </p:spTree>
    <p:extLst>
      <p:ext uri="{BB962C8B-B14F-4D97-AF65-F5344CB8AC3E}">
        <p14:creationId xmlns:p14="http://schemas.microsoft.com/office/powerpoint/2010/main" val="1152930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CA402-E1ED-5CCC-A12F-043B209F3D22}"/>
            </a:ext>
          </a:extLst>
        </p:cNvPr>
        <p:cNvGrpSpPr/>
        <p:nvPr/>
      </p:nvGrpSpPr>
      <p:grpSpPr>
        <a:xfrm>
          <a:off x="0" y="0"/>
          <a:ext cx="0" cy="0"/>
          <a:chOff x="0" y="0"/>
          <a:chExt cx="0" cy="0"/>
        </a:xfrm>
      </p:grpSpPr>
      <p:sp>
        <p:nvSpPr>
          <p:cNvPr id="5" name="TextBox 5">
            <a:extLst>
              <a:ext uri="{FF2B5EF4-FFF2-40B4-BE49-F238E27FC236}">
                <a16:creationId xmlns:a16="http://schemas.microsoft.com/office/drawing/2014/main" id="{D59DE680-0150-4CE3-72F7-46E35C5501D3}"/>
              </a:ext>
            </a:extLst>
          </p:cNvPr>
          <p:cNvSpPr txBox="1"/>
          <p:nvPr/>
        </p:nvSpPr>
        <p:spPr>
          <a:xfrm>
            <a:off x="2362200" y="790915"/>
            <a:ext cx="13563600" cy="936218"/>
          </a:xfrm>
          <a:prstGeom prst="rect">
            <a:avLst/>
          </a:prstGeom>
        </p:spPr>
        <p:txBody>
          <a:bodyPr wrap="square"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Data Collection &amp; Preprocessing </a:t>
            </a:r>
          </a:p>
        </p:txBody>
      </p:sp>
      <p:sp>
        <p:nvSpPr>
          <p:cNvPr id="8" name="TextBox 8">
            <a:extLst>
              <a:ext uri="{FF2B5EF4-FFF2-40B4-BE49-F238E27FC236}">
                <a16:creationId xmlns:a16="http://schemas.microsoft.com/office/drawing/2014/main" id="{84BF07A4-6463-3AD5-1AD1-8C76BEDA32CD}"/>
              </a:ext>
            </a:extLst>
          </p:cNvPr>
          <p:cNvSpPr txBox="1"/>
          <p:nvPr/>
        </p:nvSpPr>
        <p:spPr>
          <a:xfrm>
            <a:off x="5515894" y="8937407"/>
            <a:ext cx="7256211" cy="354777"/>
          </a:xfrm>
          <a:prstGeom prst="rect">
            <a:avLst/>
          </a:prstGeom>
        </p:spPr>
        <p:txBody>
          <a:bodyPr lIns="0" tIns="0" rIns="0" bIns="0" rtlCol="0" anchor="t">
            <a:spAutoFit/>
          </a:bodyPr>
          <a:lstStyle/>
          <a:p>
            <a:pPr algn="ctr">
              <a:lnSpc>
                <a:spcPts val="2940"/>
              </a:lnSpc>
            </a:pPr>
            <a:r>
              <a:rPr lang="en-US" sz="2100" dirty="0">
                <a:solidFill>
                  <a:srgbClr val="2B1C09"/>
                </a:solidFill>
                <a:latin typeface="Times New Roman" panose="02020603050405020304" pitchFamily="18" charset="0"/>
                <a:ea typeface="Quattrocento"/>
                <a:cs typeface="Times New Roman" panose="02020603050405020304" pitchFamily="18" charset="0"/>
                <a:sym typeface="Quattrocento"/>
              </a:rPr>
              <a:t>Meal Info </a:t>
            </a:r>
          </a:p>
        </p:txBody>
      </p:sp>
      <p:sp>
        <p:nvSpPr>
          <p:cNvPr id="11" name="TextBox 20">
            <a:extLst>
              <a:ext uri="{FF2B5EF4-FFF2-40B4-BE49-F238E27FC236}">
                <a16:creationId xmlns:a16="http://schemas.microsoft.com/office/drawing/2014/main" id="{D08C05DE-C6FE-188C-FFB8-D04BE99F9116}"/>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12" name="TextBox 5">
            <a:extLst>
              <a:ext uri="{FF2B5EF4-FFF2-40B4-BE49-F238E27FC236}">
                <a16:creationId xmlns:a16="http://schemas.microsoft.com/office/drawing/2014/main" id="{2B933F68-7398-9B74-0DB0-F3A210F7CFDD}"/>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pic>
        <p:nvPicPr>
          <p:cNvPr id="19" name="Picture 18">
            <a:extLst>
              <a:ext uri="{FF2B5EF4-FFF2-40B4-BE49-F238E27FC236}">
                <a16:creationId xmlns:a16="http://schemas.microsoft.com/office/drawing/2014/main" id="{1F4E51D9-DC7D-8928-C2B7-02570A16E0D8}"/>
              </a:ext>
            </a:extLst>
          </p:cNvPr>
          <p:cNvPicPr>
            <a:picLocks noChangeAspect="1"/>
          </p:cNvPicPr>
          <p:nvPr/>
        </p:nvPicPr>
        <p:blipFill>
          <a:blip r:embed="rId2"/>
          <a:stretch>
            <a:fillRect/>
          </a:stretch>
        </p:blipFill>
        <p:spPr>
          <a:xfrm>
            <a:off x="5515895" y="1847944"/>
            <a:ext cx="7256210" cy="6871606"/>
          </a:xfrm>
          <a:prstGeom prst="rect">
            <a:avLst/>
          </a:prstGeom>
        </p:spPr>
      </p:pic>
      <p:sp>
        <p:nvSpPr>
          <p:cNvPr id="3" name="TextBox 2">
            <a:extLst>
              <a:ext uri="{FF2B5EF4-FFF2-40B4-BE49-F238E27FC236}">
                <a16:creationId xmlns:a16="http://schemas.microsoft.com/office/drawing/2014/main" id="{3DA3D2FC-D120-289F-DD64-B7AAB5CCE7EC}"/>
              </a:ext>
            </a:extLst>
          </p:cNvPr>
          <p:cNvSpPr txBox="1"/>
          <p:nvPr/>
        </p:nvSpPr>
        <p:spPr>
          <a:xfrm>
            <a:off x="17830800" y="9833943"/>
            <a:ext cx="301686" cy="369332"/>
          </a:xfrm>
          <a:prstGeom prst="rect">
            <a:avLst/>
          </a:prstGeom>
          <a:noFill/>
        </p:spPr>
        <p:txBody>
          <a:bodyPr wrap="none" rtlCol="0">
            <a:spAutoFit/>
          </a:bodyPr>
          <a:lstStyle/>
          <a:p>
            <a:r>
              <a:rPr lang="en-US" dirty="0"/>
              <a:t>4</a:t>
            </a:r>
          </a:p>
        </p:txBody>
      </p:sp>
    </p:spTree>
    <p:extLst>
      <p:ext uri="{BB962C8B-B14F-4D97-AF65-F5344CB8AC3E}">
        <p14:creationId xmlns:p14="http://schemas.microsoft.com/office/powerpoint/2010/main" val="24328705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EC3A4-9D6F-DB62-1368-CE1C997F93DC}"/>
            </a:ext>
          </a:extLst>
        </p:cNvPr>
        <p:cNvGrpSpPr/>
        <p:nvPr/>
      </p:nvGrpSpPr>
      <p:grpSpPr>
        <a:xfrm>
          <a:off x="0" y="0"/>
          <a:ext cx="0" cy="0"/>
          <a:chOff x="0" y="0"/>
          <a:chExt cx="0" cy="0"/>
        </a:xfrm>
      </p:grpSpPr>
      <p:sp>
        <p:nvSpPr>
          <p:cNvPr id="5" name="TextBox 5">
            <a:extLst>
              <a:ext uri="{FF2B5EF4-FFF2-40B4-BE49-F238E27FC236}">
                <a16:creationId xmlns:a16="http://schemas.microsoft.com/office/drawing/2014/main" id="{8C5A23E6-5E5F-7827-1D06-832F56DF63BE}"/>
              </a:ext>
            </a:extLst>
          </p:cNvPr>
          <p:cNvSpPr txBox="1"/>
          <p:nvPr/>
        </p:nvSpPr>
        <p:spPr>
          <a:xfrm>
            <a:off x="2362200" y="790915"/>
            <a:ext cx="13563600" cy="936218"/>
          </a:xfrm>
          <a:prstGeom prst="rect">
            <a:avLst/>
          </a:prstGeom>
        </p:spPr>
        <p:txBody>
          <a:bodyPr wrap="square"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Data Collection &amp; Preprocessing </a:t>
            </a:r>
          </a:p>
        </p:txBody>
      </p:sp>
      <p:sp>
        <p:nvSpPr>
          <p:cNvPr id="8" name="TextBox 8">
            <a:extLst>
              <a:ext uri="{FF2B5EF4-FFF2-40B4-BE49-F238E27FC236}">
                <a16:creationId xmlns:a16="http://schemas.microsoft.com/office/drawing/2014/main" id="{7766CE64-36A3-1A76-0E7C-8592DC647682}"/>
              </a:ext>
            </a:extLst>
          </p:cNvPr>
          <p:cNvSpPr txBox="1"/>
          <p:nvPr/>
        </p:nvSpPr>
        <p:spPr>
          <a:xfrm>
            <a:off x="5515894" y="8937407"/>
            <a:ext cx="7256211" cy="354777"/>
          </a:xfrm>
          <a:prstGeom prst="rect">
            <a:avLst/>
          </a:prstGeom>
        </p:spPr>
        <p:txBody>
          <a:bodyPr lIns="0" tIns="0" rIns="0" bIns="0" rtlCol="0" anchor="t">
            <a:spAutoFit/>
          </a:bodyPr>
          <a:lstStyle/>
          <a:p>
            <a:pPr algn="ctr">
              <a:lnSpc>
                <a:spcPts val="2940"/>
              </a:lnSpc>
            </a:pPr>
            <a:r>
              <a:rPr lang="en-US" sz="2100" dirty="0">
                <a:solidFill>
                  <a:srgbClr val="2B1C09"/>
                </a:solidFill>
                <a:latin typeface="Times New Roman" panose="02020603050405020304" pitchFamily="18" charset="0"/>
                <a:ea typeface="Quattrocento"/>
                <a:cs typeface="Times New Roman" panose="02020603050405020304" pitchFamily="18" charset="0"/>
                <a:sym typeface="Quattrocento"/>
              </a:rPr>
              <a:t>Historical Order Data</a:t>
            </a:r>
          </a:p>
        </p:txBody>
      </p:sp>
      <p:sp>
        <p:nvSpPr>
          <p:cNvPr id="11" name="TextBox 20">
            <a:extLst>
              <a:ext uri="{FF2B5EF4-FFF2-40B4-BE49-F238E27FC236}">
                <a16:creationId xmlns:a16="http://schemas.microsoft.com/office/drawing/2014/main" id="{EC62736A-6638-7DD6-634B-EDC8B9CF1777}"/>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12" name="TextBox 5">
            <a:extLst>
              <a:ext uri="{FF2B5EF4-FFF2-40B4-BE49-F238E27FC236}">
                <a16:creationId xmlns:a16="http://schemas.microsoft.com/office/drawing/2014/main" id="{CA7750E8-7ACB-BD68-8441-E843FCA25A24}"/>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pic>
        <p:nvPicPr>
          <p:cNvPr id="3" name="Picture 2">
            <a:extLst>
              <a:ext uri="{FF2B5EF4-FFF2-40B4-BE49-F238E27FC236}">
                <a16:creationId xmlns:a16="http://schemas.microsoft.com/office/drawing/2014/main" id="{C99B5B12-1A71-BEB0-EB65-96FCF14D0F8B}"/>
              </a:ext>
            </a:extLst>
          </p:cNvPr>
          <p:cNvPicPr>
            <a:picLocks noChangeAspect="1"/>
          </p:cNvPicPr>
          <p:nvPr/>
        </p:nvPicPr>
        <p:blipFill>
          <a:blip r:embed="rId2"/>
          <a:stretch>
            <a:fillRect/>
          </a:stretch>
        </p:blipFill>
        <p:spPr>
          <a:xfrm>
            <a:off x="2313622" y="2133875"/>
            <a:ext cx="13660756" cy="6360198"/>
          </a:xfrm>
          <a:prstGeom prst="rect">
            <a:avLst/>
          </a:prstGeom>
        </p:spPr>
      </p:pic>
      <p:sp>
        <p:nvSpPr>
          <p:cNvPr id="4" name="TextBox 3">
            <a:extLst>
              <a:ext uri="{FF2B5EF4-FFF2-40B4-BE49-F238E27FC236}">
                <a16:creationId xmlns:a16="http://schemas.microsoft.com/office/drawing/2014/main" id="{7FA3BCED-F251-1A82-7E63-16D558F72CEB}"/>
              </a:ext>
            </a:extLst>
          </p:cNvPr>
          <p:cNvSpPr txBox="1"/>
          <p:nvPr/>
        </p:nvSpPr>
        <p:spPr>
          <a:xfrm>
            <a:off x="17830800" y="9833943"/>
            <a:ext cx="301686" cy="369332"/>
          </a:xfrm>
          <a:prstGeom prst="rect">
            <a:avLst/>
          </a:prstGeom>
          <a:noFill/>
        </p:spPr>
        <p:txBody>
          <a:bodyPr wrap="none" rtlCol="0">
            <a:spAutoFit/>
          </a:bodyPr>
          <a:lstStyle/>
          <a:p>
            <a:r>
              <a:rPr lang="en-US" dirty="0"/>
              <a:t>5</a:t>
            </a:r>
          </a:p>
        </p:txBody>
      </p:sp>
    </p:spTree>
    <p:extLst>
      <p:ext uri="{BB962C8B-B14F-4D97-AF65-F5344CB8AC3E}">
        <p14:creationId xmlns:p14="http://schemas.microsoft.com/office/powerpoint/2010/main" val="3706288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B3495-06A6-07EE-0778-BCF80BDCC2B3}"/>
            </a:ext>
          </a:extLst>
        </p:cNvPr>
        <p:cNvGrpSpPr/>
        <p:nvPr/>
      </p:nvGrpSpPr>
      <p:grpSpPr>
        <a:xfrm>
          <a:off x="0" y="0"/>
          <a:ext cx="0" cy="0"/>
          <a:chOff x="0" y="0"/>
          <a:chExt cx="0" cy="0"/>
        </a:xfrm>
      </p:grpSpPr>
      <p:sp>
        <p:nvSpPr>
          <p:cNvPr id="5" name="TextBox 5">
            <a:extLst>
              <a:ext uri="{FF2B5EF4-FFF2-40B4-BE49-F238E27FC236}">
                <a16:creationId xmlns:a16="http://schemas.microsoft.com/office/drawing/2014/main" id="{42065860-FE72-EB6C-A7F2-B290BDE7EA99}"/>
              </a:ext>
            </a:extLst>
          </p:cNvPr>
          <p:cNvSpPr txBox="1"/>
          <p:nvPr/>
        </p:nvSpPr>
        <p:spPr>
          <a:xfrm>
            <a:off x="4836728" y="1218538"/>
            <a:ext cx="8955472" cy="923330"/>
          </a:xfrm>
          <a:prstGeom prst="rect">
            <a:avLst/>
          </a:prstGeom>
        </p:spPr>
        <p:txBody>
          <a:bodyPr wrap="square" lIns="0" tIns="0" rIns="0" bIns="0" rtlCol="0" anchor="t">
            <a:spAutoFit/>
          </a:bodyPr>
          <a:lstStyle/>
          <a:p>
            <a:pPr algn="l">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Modeling Techniques </a:t>
            </a:r>
          </a:p>
        </p:txBody>
      </p:sp>
      <p:sp>
        <p:nvSpPr>
          <p:cNvPr id="6" name="TextBox 6">
            <a:extLst>
              <a:ext uri="{FF2B5EF4-FFF2-40B4-BE49-F238E27FC236}">
                <a16:creationId xmlns:a16="http://schemas.microsoft.com/office/drawing/2014/main" id="{A2439043-44F2-C4F0-1C54-043938F30BF7}"/>
              </a:ext>
            </a:extLst>
          </p:cNvPr>
          <p:cNvSpPr txBox="1"/>
          <p:nvPr/>
        </p:nvSpPr>
        <p:spPr>
          <a:xfrm>
            <a:off x="838200" y="4233934"/>
            <a:ext cx="16611600" cy="1477328"/>
          </a:xfrm>
          <a:prstGeom prst="rect">
            <a:avLst/>
          </a:prstGeom>
        </p:spPr>
        <p:txBody>
          <a:bodyPr wrap="square" lIns="0" tIns="0" rIns="0" bIns="0" rtlCol="0" anchor="t">
            <a:spAutoFit/>
          </a:bodyPr>
          <a:lstStyle/>
          <a:p>
            <a:pPr algn="l"/>
            <a:r>
              <a:rPr lang="en-US" sz="3200" b="1" dirty="0">
                <a:solidFill>
                  <a:srgbClr val="2B1C09"/>
                </a:solidFill>
                <a:latin typeface="Times New Roman" panose="02020603050405020304" pitchFamily="18" charset="0"/>
                <a:ea typeface="Quattrocento"/>
                <a:cs typeface="Times New Roman" panose="02020603050405020304" pitchFamily="18" charset="0"/>
                <a:sym typeface="Quattrocento"/>
              </a:rPr>
              <a:t>Purpose</a:t>
            </a:r>
            <a:r>
              <a:rPr lang="en-US" sz="3200" dirty="0">
                <a:solidFill>
                  <a:srgbClr val="2B1C09"/>
                </a:solidFill>
                <a:latin typeface="Times New Roman" panose="02020603050405020304" pitchFamily="18" charset="0"/>
                <a:ea typeface="Quattrocento"/>
                <a:cs typeface="Times New Roman" panose="02020603050405020304" pitchFamily="18" charset="0"/>
                <a:sym typeface="Quattrocento"/>
              </a:rPr>
              <a:t>: The ARIMAX (</a:t>
            </a:r>
            <a:r>
              <a:rPr lang="en-US" sz="3200" dirty="0" err="1">
                <a:solidFill>
                  <a:srgbClr val="2B1C09"/>
                </a:solidFill>
                <a:latin typeface="Times New Roman" panose="02020603050405020304" pitchFamily="18" charset="0"/>
                <a:ea typeface="Quattrocento"/>
                <a:cs typeface="Times New Roman" panose="02020603050405020304" pitchFamily="18" charset="0"/>
                <a:sym typeface="Quattrocento"/>
              </a:rPr>
              <a:t>AutoRegressive</a:t>
            </a:r>
            <a:r>
              <a:rPr lang="en-US" sz="3200" dirty="0">
                <a:solidFill>
                  <a:srgbClr val="2B1C09"/>
                </a:solidFill>
                <a:latin typeface="Times New Roman" panose="02020603050405020304" pitchFamily="18" charset="0"/>
                <a:ea typeface="Quattrocento"/>
                <a:cs typeface="Times New Roman" panose="02020603050405020304" pitchFamily="18" charset="0"/>
                <a:sym typeface="Quattrocento"/>
              </a:rPr>
              <a:t> Integrated Moving Average with </a:t>
            </a:r>
            <a:r>
              <a:rPr lang="en-US" sz="3200" dirty="0" err="1">
                <a:solidFill>
                  <a:srgbClr val="2B1C09"/>
                </a:solidFill>
                <a:latin typeface="Times New Roman" panose="02020603050405020304" pitchFamily="18" charset="0"/>
                <a:ea typeface="Quattrocento"/>
                <a:cs typeface="Times New Roman" panose="02020603050405020304" pitchFamily="18" charset="0"/>
                <a:sym typeface="Quattrocento"/>
              </a:rPr>
              <a:t>eXogenous</a:t>
            </a:r>
            <a:r>
              <a:rPr lang="en-US" sz="3200" dirty="0">
                <a:solidFill>
                  <a:srgbClr val="2B1C09"/>
                </a:solidFill>
                <a:latin typeface="Times New Roman" panose="02020603050405020304" pitchFamily="18" charset="0"/>
                <a:ea typeface="Quattrocento"/>
                <a:cs typeface="Times New Roman" panose="02020603050405020304" pitchFamily="18" charset="0"/>
                <a:sym typeface="Quattrocento"/>
              </a:rPr>
              <a:t> inputs) model was chosen to account for both time series trends and external factors that may influence meal demand</a:t>
            </a:r>
          </a:p>
        </p:txBody>
      </p:sp>
      <p:sp>
        <p:nvSpPr>
          <p:cNvPr id="7" name="TextBox 7">
            <a:extLst>
              <a:ext uri="{FF2B5EF4-FFF2-40B4-BE49-F238E27FC236}">
                <a16:creationId xmlns:a16="http://schemas.microsoft.com/office/drawing/2014/main" id="{C7D1DA56-4C3B-757D-A4AF-B1E0D6D5E399}"/>
              </a:ext>
            </a:extLst>
          </p:cNvPr>
          <p:cNvSpPr txBox="1"/>
          <p:nvPr/>
        </p:nvSpPr>
        <p:spPr>
          <a:xfrm>
            <a:off x="7511155" y="2942559"/>
            <a:ext cx="3004445" cy="548355"/>
          </a:xfrm>
          <a:prstGeom prst="rect">
            <a:avLst/>
          </a:prstGeom>
        </p:spPr>
        <p:txBody>
          <a:bodyPr wrap="square" lIns="0" tIns="0" rIns="0" bIns="0" rtlCol="0" anchor="t">
            <a:spAutoFit/>
          </a:bodyPr>
          <a:lstStyle/>
          <a:p>
            <a:pPr algn="ctr">
              <a:lnSpc>
                <a:spcPts val="4480"/>
              </a:lnSpc>
            </a:pPr>
            <a:r>
              <a:rPr lang="en-US" sz="3200" b="1" dirty="0">
                <a:solidFill>
                  <a:srgbClr val="FC6233"/>
                </a:solidFill>
                <a:latin typeface="Times New Roman" panose="02020603050405020304" pitchFamily="18" charset="0"/>
                <a:ea typeface="Quattrocento Bold"/>
                <a:cs typeface="Times New Roman" panose="02020603050405020304" pitchFamily="18" charset="0"/>
                <a:sym typeface="Quattrocento Bold"/>
              </a:rPr>
              <a:t>ARIMAX Model</a:t>
            </a:r>
          </a:p>
        </p:txBody>
      </p:sp>
      <p:sp>
        <p:nvSpPr>
          <p:cNvPr id="14" name="TextBox 20">
            <a:extLst>
              <a:ext uri="{FF2B5EF4-FFF2-40B4-BE49-F238E27FC236}">
                <a16:creationId xmlns:a16="http://schemas.microsoft.com/office/drawing/2014/main" id="{A19E360A-9991-8D50-685D-2594790D6EF3}"/>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15" name="TextBox 5">
            <a:extLst>
              <a:ext uri="{FF2B5EF4-FFF2-40B4-BE49-F238E27FC236}">
                <a16:creationId xmlns:a16="http://schemas.microsoft.com/office/drawing/2014/main" id="{9EF1BB39-98D9-7A6A-C08D-AA459641D7FB}"/>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
        <p:nvSpPr>
          <p:cNvPr id="2" name="TextBox 6">
            <a:extLst>
              <a:ext uri="{FF2B5EF4-FFF2-40B4-BE49-F238E27FC236}">
                <a16:creationId xmlns:a16="http://schemas.microsoft.com/office/drawing/2014/main" id="{4B479CAA-D50F-EF9E-5F9B-0BB62621736B}"/>
              </a:ext>
            </a:extLst>
          </p:cNvPr>
          <p:cNvSpPr txBox="1"/>
          <p:nvPr/>
        </p:nvSpPr>
        <p:spPr>
          <a:xfrm>
            <a:off x="807720" y="7507550"/>
            <a:ext cx="16611600" cy="1477328"/>
          </a:xfrm>
          <a:prstGeom prst="rect">
            <a:avLst/>
          </a:prstGeom>
        </p:spPr>
        <p:txBody>
          <a:bodyPr wrap="square" lIns="0" tIns="0" rIns="0" bIns="0" rtlCol="0" anchor="t">
            <a:spAutoFit/>
          </a:bodyPr>
          <a:lstStyle/>
          <a:p>
            <a:pPr algn="l"/>
            <a:r>
              <a:rPr lang="en-US" sz="3200" b="1" dirty="0">
                <a:solidFill>
                  <a:srgbClr val="2B1C09"/>
                </a:solidFill>
                <a:latin typeface="Times New Roman" panose="02020603050405020304" pitchFamily="18" charset="0"/>
                <a:ea typeface="Quattrocento"/>
                <a:cs typeface="Times New Roman" panose="02020603050405020304" pitchFamily="18" charset="0"/>
                <a:sym typeface="Quattrocento"/>
              </a:rPr>
              <a:t>Purpose</a:t>
            </a:r>
            <a:r>
              <a:rPr lang="en-US" sz="3200" dirty="0">
                <a:solidFill>
                  <a:srgbClr val="2B1C09"/>
                </a:solidFill>
                <a:latin typeface="Times New Roman" panose="02020603050405020304" pitchFamily="18" charset="0"/>
                <a:ea typeface="Quattrocento"/>
                <a:cs typeface="Times New Roman" panose="02020603050405020304" pitchFamily="18" charset="0"/>
                <a:sym typeface="Quattrocento"/>
              </a:rPr>
              <a:t>: Refine the details of weekly meal requests by providing more precision and highlighting the various factors that impact these choices. This will align closely with the broader objective of predicting meal trends accurately.</a:t>
            </a:r>
          </a:p>
        </p:txBody>
      </p:sp>
      <p:sp>
        <p:nvSpPr>
          <p:cNvPr id="3" name="TextBox 7">
            <a:extLst>
              <a:ext uri="{FF2B5EF4-FFF2-40B4-BE49-F238E27FC236}">
                <a16:creationId xmlns:a16="http://schemas.microsoft.com/office/drawing/2014/main" id="{061BCD46-B2E5-8E06-B118-8BD5CF40AC4E}"/>
              </a:ext>
            </a:extLst>
          </p:cNvPr>
          <p:cNvSpPr txBox="1"/>
          <p:nvPr/>
        </p:nvSpPr>
        <p:spPr>
          <a:xfrm>
            <a:off x="7145395" y="6216175"/>
            <a:ext cx="3675006" cy="548355"/>
          </a:xfrm>
          <a:prstGeom prst="rect">
            <a:avLst/>
          </a:prstGeom>
        </p:spPr>
        <p:txBody>
          <a:bodyPr wrap="square" lIns="0" tIns="0" rIns="0" bIns="0" rtlCol="0" anchor="t">
            <a:spAutoFit/>
          </a:bodyPr>
          <a:lstStyle/>
          <a:p>
            <a:pPr algn="ctr">
              <a:lnSpc>
                <a:spcPts val="4480"/>
              </a:lnSpc>
            </a:pPr>
            <a:r>
              <a:rPr lang="en-US" sz="3200" b="1" dirty="0">
                <a:solidFill>
                  <a:srgbClr val="FC6233"/>
                </a:solidFill>
                <a:latin typeface="Times New Roman" panose="02020603050405020304" pitchFamily="18" charset="0"/>
                <a:ea typeface="Quattrocento Bold"/>
                <a:cs typeface="Times New Roman" panose="02020603050405020304" pitchFamily="18" charset="0"/>
                <a:sym typeface="Quattrocento Bold"/>
              </a:rPr>
              <a:t>Linear regression</a:t>
            </a:r>
          </a:p>
        </p:txBody>
      </p:sp>
      <p:sp>
        <p:nvSpPr>
          <p:cNvPr id="8" name="TextBox 7">
            <a:extLst>
              <a:ext uri="{FF2B5EF4-FFF2-40B4-BE49-F238E27FC236}">
                <a16:creationId xmlns:a16="http://schemas.microsoft.com/office/drawing/2014/main" id="{E6DFC459-F4BE-F2B1-C8B5-14BE3595E2DB}"/>
              </a:ext>
            </a:extLst>
          </p:cNvPr>
          <p:cNvSpPr txBox="1"/>
          <p:nvPr/>
        </p:nvSpPr>
        <p:spPr>
          <a:xfrm>
            <a:off x="17830800" y="9833943"/>
            <a:ext cx="301686" cy="369332"/>
          </a:xfrm>
          <a:prstGeom prst="rect">
            <a:avLst/>
          </a:prstGeom>
          <a:noFill/>
        </p:spPr>
        <p:txBody>
          <a:bodyPr wrap="none" rtlCol="0">
            <a:spAutoFit/>
          </a:bodyPr>
          <a:lstStyle/>
          <a:p>
            <a:r>
              <a:rPr lang="en-US" dirty="0"/>
              <a:t>6</a:t>
            </a:r>
          </a:p>
        </p:txBody>
      </p:sp>
    </p:spTree>
    <p:extLst>
      <p:ext uri="{BB962C8B-B14F-4D97-AF65-F5344CB8AC3E}">
        <p14:creationId xmlns:p14="http://schemas.microsoft.com/office/powerpoint/2010/main" val="31515538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17294-03DA-3C2E-DE45-C8D562BEAA06}"/>
            </a:ext>
          </a:extLst>
        </p:cNvPr>
        <p:cNvGrpSpPr/>
        <p:nvPr/>
      </p:nvGrpSpPr>
      <p:grpSpPr>
        <a:xfrm>
          <a:off x="0" y="0"/>
          <a:ext cx="0" cy="0"/>
          <a:chOff x="0" y="0"/>
          <a:chExt cx="0" cy="0"/>
        </a:xfrm>
      </p:grpSpPr>
      <p:sp>
        <p:nvSpPr>
          <p:cNvPr id="5" name="TextBox 5">
            <a:extLst>
              <a:ext uri="{FF2B5EF4-FFF2-40B4-BE49-F238E27FC236}">
                <a16:creationId xmlns:a16="http://schemas.microsoft.com/office/drawing/2014/main" id="{BE163E8E-F669-3EBD-F965-9CB16AB6CAEA}"/>
              </a:ext>
            </a:extLst>
          </p:cNvPr>
          <p:cNvSpPr txBox="1"/>
          <p:nvPr/>
        </p:nvSpPr>
        <p:spPr>
          <a:xfrm>
            <a:off x="2286000" y="4665003"/>
            <a:ext cx="14706600" cy="956993"/>
          </a:xfrm>
          <a:prstGeom prst="rect">
            <a:avLst/>
          </a:prstGeom>
        </p:spPr>
        <p:txBody>
          <a:bodyPr wrap="square" lIns="0" tIns="0" rIns="0" bIns="0" rtlCol="0" anchor="t">
            <a:spAutoFit/>
          </a:bodyPr>
          <a:lstStyle/>
          <a:p>
            <a:pPr algn="ctr">
              <a:lnSpc>
                <a:spcPts val="7200"/>
              </a:lnSpc>
            </a:pPr>
            <a:r>
              <a:rPr lang="en-US" sz="8800" b="1" spc="288" dirty="0">
                <a:solidFill>
                  <a:srgbClr val="FC6233"/>
                </a:solidFill>
                <a:latin typeface="Times New Roman" panose="02020603050405020304" pitchFamily="18" charset="0"/>
                <a:ea typeface="Maragsa"/>
                <a:cs typeface="Times New Roman" panose="02020603050405020304" pitchFamily="18" charset="0"/>
                <a:sym typeface="Maragsa"/>
              </a:rPr>
              <a:t>RESULTS &amp; DICUSSION</a:t>
            </a:r>
          </a:p>
        </p:txBody>
      </p:sp>
      <p:sp>
        <p:nvSpPr>
          <p:cNvPr id="14" name="TextBox 20">
            <a:extLst>
              <a:ext uri="{FF2B5EF4-FFF2-40B4-BE49-F238E27FC236}">
                <a16:creationId xmlns:a16="http://schemas.microsoft.com/office/drawing/2014/main" id="{9EA03898-C077-5D73-EF81-6D3C12C8BFFE}"/>
              </a:ext>
            </a:extLst>
          </p:cNvPr>
          <p:cNvSpPr txBox="1"/>
          <p:nvPr/>
        </p:nvSpPr>
        <p:spPr>
          <a:xfrm>
            <a:off x="4658270" y="329458"/>
            <a:ext cx="9123086" cy="214802"/>
          </a:xfrm>
          <a:prstGeom prst="rect">
            <a:avLst/>
          </a:prstGeom>
        </p:spPr>
        <p:txBody>
          <a:bodyPr wrap="square"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15" name="TextBox 5">
            <a:extLst>
              <a:ext uri="{FF2B5EF4-FFF2-40B4-BE49-F238E27FC236}">
                <a16:creationId xmlns:a16="http://schemas.microsoft.com/office/drawing/2014/main" id="{B706A9A5-DFCD-3666-8B32-F7F5DFB02334}"/>
              </a:ext>
            </a:extLst>
          </p:cNvPr>
          <p:cNvSpPr txBox="1"/>
          <p:nvPr/>
        </p:nvSpPr>
        <p:spPr>
          <a:xfrm>
            <a:off x="4658270" y="9717510"/>
            <a:ext cx="9123086" cy="212090"/>
          </a:xfrm>
          <a:prstGeom prst="rect">
            <a:avLst/>
          </a:prstGeom>
        </p:spPr>
        <p:txBody>
          <a:bodyPr wrap="square"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Tree>
    <p:extLst>
      <p:ext uri="{BB962C8B-B14F-4D97-AF65-F5344CB8AC3E}">
        <p14:creationId xmlns:p14="http://schemas.microsoft.com/office/powerpoint/2010/main" val="3519109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FF158-4F07-92D1-A72D-A946C30317EE}"/>
            </a:ext>
          </a:extLst>
        </p:cNvPr>
        <p:cNvGrpSpPr/>
        <p:nvPr/>
      </p:nvGrpSpPr>
      <p:grpSpPr>
        <a:xfrm>
          <a:off x="0" y="0"/>
          <a:ext cx="0" cy="0"/>
          <a:chOff x="0" y="0"/>
          <a:chExt cx="0" cy="0"/>
        </a:xfrm>
      </p:grpSpPr>
      <p:sp>
        <p:nvSpPr>
          <p:cNvPr id="5" name="TextBox 5">
            <a:extLst>
              <a:ext uri="{FF2B5EF4-FFF2-40B4-BE49-F238E27FC236}">
                <a16:creationId xmlns:a16="http://schemas.microsoft.com/office/drawing/2014/main" id="{42ACD6B0-B95B-A236-5B56-FB5BB9E494F6}"/>
              </a:ext>
            </a:extLst>
          </p:cNvPr>
          <p:cNvSpPr txBox="1"/>
          <p:nvPr/>
        </p:nvSpPr>
        <p:spPr>
          <a:xfrm>
            <a:off x="4157719" y="975349"/>
            <a:ext cx="9972562" cy="923330"/>
          </a:xfrm>
          <a:prstGeom prst="rect">
            <a:avLst/>
          </a:prstGeom>
        </p:spPr>
        <p:txBody>
          <a:bodyPr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Statistics Description</a:t>
            </a:r>
          </a:p>
        </p:txBody>
      </p:sp>
      <p:sp>
        <p:nvSpPr>
          <p:cNvPr id="11" name="TextBox 20">
            <a:extLst>
              <a:ext uri="{FF2B5EF4-FFF2-40B4-BE49-F238E27FC236}">
                <a16:creationId xmlns:a16="http://schemas.microsoft.com/office/drawing/2014/main" id="{EB2BEE7B-87FE-0B14-A4F7-7F68C7227975}"/>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12" name="TextBox 5">
            <a:extLst>
              <a:ext uri="{FF2B5EF4-FFF2-40B4-BE49-F238E27FC236}">
                <a16:creationId xmlns:a16="http://schemas.microsoft.com/office/drawing/2014/main" id="{C9C0B183-4214-9A72-7F31-941625397ACD}"/>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
        <p:nvSpPr>
          <p:cNvPr id="13" name="TextBox 7">
            <a:extLst>
              <a:ext uri="{FF2B5EF4-FFF2-40B4-BE49-F238E27FC236}">
                <a16:creationId xmlns:a16="http://schemas.microsoft.com/office/drawing/2014/main" id="{4B6EF5FB-A024-278D-5251-5E124ADDB928}"/>
              </a:ext>
            </a:extLst>
          </p:cNvPr>
          <p:cNvSpPr txBox="1"/>
          <p:nvPr/>
        </p:nvSpPr>
        <p:spPr>
          <a:xfrm>
            <a:off x="7146478" y="2449784"/>
            <a:ext cx="3995045" cy="548355"/>
          </a:xfrm>
          <a:prstGeom prst="rect">
            <a:avLst/>
          </a:prstGeom>
        </p:spPr>
        <p:txBody>
          <a:bodyPr wrap="square" lIns="0" tIns="0" rIns="0" bIns="0" rtlCol="0" anchor="t">
            <a:spAutoFit/>
          </a:bodyPr>
          <a:lstStyle/>
          <a:p>
            <a:pPr algn="ctr">
              <a:lnSpc>
                <a:spcPts val="4480"/>
              </a:lnSpc>
            </a:pPr>
            <a:r>
              <a:rPr lang="en-US" sz="3200" b="1" dirty="0">
                <a:solidFill>
                  <a:srgbClr val="FC6233"/>
                </a:solidFill>
                <a:latin typeface="Times New Roman" panose="02020603050405020304" pitchFamily="18" charset="0"/>
                <a:ea typeface="Quattrocento Bold"/>
                <a:cs typeface="Times New Roman" panose="02020603050405020304" pitchFamily="18" charset="0"/>
                <a:sym typeface="Quattrocento Bold"/>
              </a:rPr>
              <a:t>Descriptive Statistics</a:t>
            </a:r>
          </a:p>
        </p:txBody>
      </p:sp>
      <p:pic>
        <p:nvPicPr>
          <p:cNvPr id="6" name="Picture 5" descr="A table with numbers and text&#10;&#10;Description automatically generated">
            <a:extLst>
              <a:ext uri="{FF2B5EF4-FFF2-40B4-BE49-F238E27FC236}">
                <a16:creationId xmlns:a16="http://schemas.microsoft.com/office/drawing/2014/main" id="{8FE736B6-59B3-A229-D780-E377D602A13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57719" y="2081257"/>
            <a:ext cx="9972562" cy="7230394"/>
          </a:xfrm>
          <a:prstGeom prst="rect">
            <a:avLst/>
          </a:prstGeom>
        </p:spPr>
      </p:pic>
      <p:sp>
        <p:nvSpPr>
          <p:cNvPr id="3" name="TextBox 2">
            <a:extLst>
              <a:ext uri="{FF2B5EF4-FFF2-40B4-BE49-F238E27FC236}">
                <a16:creationId xmlns:a16="http://schemas.microsoft.com/office/drawing/2014/main" id="{5754626C-B5FF-B7C7-3EA3-665178D2BD9D}"/>
              </a:ext>
            </a:extLst>
          </p:cNvPr>
          <p:cNvSpPr txBox="1"/>
          <p:nvPr/>
        </p:nvSpPr>
        <p:spPr>
          <a:xfrm>
            <a:off x="17830800" y="9833943"/>
            <a:ext cx="301686" cy="369332"/>
          </a:xfrm>
          <a:prstGeom prst="rect">
            <a:avLst/>
          </a:prstGeom>
          <a:noFill/>
        </p:spPr>
        <p:txBody>
          <a:bodyPr wrap="none" rtlCol="0">
            <a:spAutoFit/>
          </a:bodyPr>
          <a:lstStyle/>
          <a:p>
            <a:r>
              <a:rPr lang="en-US" dirty="0"/>
              <a:t>8</a:t>
            </a:r>
          </a:p>
        </p:txBody>
      </p:sp>
    </p:spTree>
    <p:extLst>
      <p:ext uri="{BB962C8B-B14F-4D97-AF65-F5344CB8AC3E}">
        <p14:creationId xmlns:p14="http://schemas.microsoft.com/office/powerpoint/2010/main" val="16171755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18AE6-340C-CC92-5647-46ED2CAFAB84}"/>
            </a:ext>
          </a:extLst>
        </p:cNvPr>
        <p:cNvGrpSpPr/>
        <p:nvPr/>
      </p:nvGrpSpPr>
      <p:grpSpPr>
        <a:xfrm>
          <a:off x="0" y="0"/>
          <a:ext cx="0" cy="0"/>
          <a:chOff x="0" y="0"/>
          <a:chExt cx="0" cy="0"/>
        </a:xfrm>
      </p:grpSpPr>
      <p:sp>
        <p:nvSpPr>
          <p:cNvPr id="10" name="TextBox 10">
            <a:extLst>
              <a:ext uri="{FF2B5EF4-FFF2-40B4-BE49-F238E27FC236}">
                <a16:creationId xmlns:a16="http://schemas.microsoft.com/office/drawing/2014/main" id="{021A371C-19BD-D340-270D-383A1A55CD12}"/>
              </a:ext>
            </a:extLst>
          </p:cNvPr>
          <p:cNvSpPr txBox="1"/>
          <p:nvPr/>
        </p:nvSpPr>
        <p:spPr>
          <a:xfrm>
            <a:off x="2057400" y="690393"/>
            <a:ext cx="14173200" cy="936218"/>
          </a:xfrm>
          <a:prstGeom prst="rect">
            <a:avLst/>
          </a:prstGeom>
        </p:spPr>
        <p:txBody>
          <a:bodyPr wrap="square" lIns="0" tIns="0" rIns="0" bIns="0" rtlCol="0" anchor="t">
            <a:spAutoFit/>
          </a:bodyPr>
          <a:lstStyle/>
          <a:p>
            <a:pPr algn="l">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Demand Distribution Observations </a:t>
            </a:r>
          </a:p>
        </p:txBody>
      </p:sp>
      <p:sp>
        <p:nvSpPr>
          <p:cNvPr id="18" name="TextBox 20">
            <a:extLst>
              <a:ext uri="{FF2B5EF4-FFF2-40B4-BE49-F238E27FC236}">
                <a16:creationId xmlns:a16="http://schemas.microsoft.com/office/drawing/2014/main" id="{2EB2B799-3383-BC89-1BD9-41AB0E1F125F}"/>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19" name="TextBox 5">
            <a:extLst>
              <a:ext uri="{FF2B5EF4-FFF2-40B4-BE49-F238E27FC236}">
                <a16:creationId xmlns:a16="http://schemas.microsoft.com/office/drawing/2014/main" id="{8A29C3E7-A286-89CC-684E-C9EC53D18655}"/>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
        <p:nvSpPr>
          <p:cNvPr id="24" name="TextBox 7">
            <a:extLst>
              <a:ext uri="{FF2B5EF4-FFF2-40B4-BE49-F238E27FC236}">
                <a16:creationId xmlns:a16="http://schemas.microsoft.com/office/drawing/2014/main" id="{154993E0-38BB-7052-79B5-E321DA65571F}"/>
              </a:ext>
            </a:extLst>
          </p:cNvPr>
          <p:cNvSpPr txBox="1"/>
          <p:nvPr/>
        </p:nvSpPr>
        <p:spPr>
          <a:xfrm>
            <a:off x="7146478" y="1762356"/>
            <a:ext cx="3995045" cy="548355"/>
          </a:xfrm>
          <a:prstGeom prst="rect">
            <a:avLst/>
          </a:prstGeom>
        </p:spPr>
        <p:txBody>
          <a:bodyPr wrap="square" lIns="0" tIns="0" rIns="0" bIns="0" rtlCol="0" anchor="t">
            <a:spAutoFit/>
          </a:bodyPr>
          <a:lstStyle/>
          <a:p>
            <a:pPr algn="ctr">
              <a:lnSpc>
                <a:spcPts val="4480"/>
              </a:lnSpc>
            </a:pPr>
            <a:r>
              <a:rPr lang="en-US" sz="3200" b="1" dirty="0">
                <a:solidFill>
                  <a:srgbClr val="FC6233"/>
                </a:solidFill>
                <a:latin typeface="Times New Roman" panose="02020603050405020304" pitchFamily="18" charset="0"/>
                <a:ea typeface="Quattrocento Bold"/>
                <a:cs typeface="Times New Roman" panose="02020603050405020304" pitchFamily="18" charset="0"/>
                <a:sym typeface="Quattrocento Bold"/>
              </a:rPr>
              <a:t>Distribution Analysis</a:t>
            </a:r>
          </a:p>
        </p:txBody>
      </p:sp>
      <p:pic>
        <p:nvPicPr>
          <p:cNvPr id="25" name="Picture 24" descr="A graph of a number of bars&#10;&#10;Description automatically generated with medium confidence">
            <a:extLst>
              <a:ext uri="{FF2B5EF4-FFF2-40B4-BE49-F238E27FC236}">
                <a16:creationId xmlns:a16="http://schemas.microsoft.com/office/drawing/2014/main" id="{1565FFC7-D239-E71B-B6BB-5B9596DBA165}"/>
              </a:ext>
            </a:extLst>
          </p:cNvPr>
          <p:cNvPicPr>
            <a:picLocks noChangeAspect="1"/>
          </p:cNvPicPr>
          <p:nvPr/>
        </p:nvPicPr>
        <p:blipFill>
          <a:blip r:embed="rId2"/>
          <a:stretch>
            <a:fillRect/>
          </a:stretch>
        </p:blipFill>
        <p:spPr>
          <a:xfrm>
            <a:off x="7118515" y="2310711"/>
            <a:ext cx="11125200" cy="6535047"/>
          </a:xfrm>
          <a:prstGeom prst="rect">
            <a:avLst/>
          </a:prstGeom>
        </p:spPr>
      </p:pic>
      <p:pic>
        <p:nvPicPr>
          <p:cNvPr id="5" name="Picture 4">
            <a:extLst>
              <a:ext uri="{FF2B5EF4-FFF2-40B4-BE49-F238E27FC236}">
                <a16:creationId xmlns:a16="http://schemas.microsoft.com/office/drawing/2014/main" id="{7007A7B4-1FA8-77AE-9DB3-00DFA37D37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285" y="4175125"/>
            <a:ext cx="7410450" cy="638175"/>
          </a:xfrm>
          <a:prstGeom prst="rect">
            <a:avLst/>
          </a:prstGeom>
        </p:spPr>
      </p:pic>
      <p:pic>
        <p:nvPicPr>
          <p:cNvPr id="7" name="Picture 6">
            <a:extLst>
              <a:ext uri="{FF2B5EF4-FFF2-40B4-BE49-F238E27FC236}">
                <a16:creationId xmlns:a16="http://schemas.microsoft.com/office/drawing/2014/main" id="{2557FBB3-440E-381E-BC14-6CB2717592F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285" y="5677147"/>
            <a:ext cx="7410450" cy="619125"/>
          </a:xfrm>
          <a:prstGeom prst="rect">
            <a:avLst/>
          </a:prstGeom>
        </p:spPr>
      </p:pic>
      <p:pic>
        <p:nvPicPr>
          <p:cNvPr id="9" name="Picture 8">
            <a:extLst>
              <a:ext uri="{FF2B5EF4-FFF2-40B4-BE49-F238E27FC236}">
                <a16:creationId xmlns:a16="http://schemas.microsoft.com/office/drawing/2014/main" id="{FAB1D645-05F2-ADE1-FBBF-3D0A86EC44E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285" y="7247165"/>
            <a:ext cx="7419975" cy="647700"/>
          </a:xfrm>
          <a:prstGeom prst="rect">
            <a:avLst/>
          </a:prstGeom>
        </p:spPr>
      </p:pic>
      <p:sp>
        <p:nvSpPr>
          <p:cNvPr id="11" name="TextBox 7">
            <a:extLst>
              <a:ext uri="{FF2B5EF4-FFF2-40B4-BE49-F238E27FC236}">
                <a16:creationId xmlns:a16="http://schemas.microsoft.com/office/drawing/2014/main" id="{87749F69-2F34-C6CD-A9D2-4187DA7E5F4D}"/>
              </a:ext>
            </a:extLst>
          </p:cNvPr>
          <p:cNvSpPr txBox="1"/>
          <p:nvPr/>
        </p:nvSpPr>
        <p:spPr>
          <a:xfrm>
            <a:off x="-265280" y="3515994"/>
            <a:ext cx="3995045" cy="548355"/>
          </a:xfrm>
          <a:prstGeom prst="rect">
            <a:avLst/>
          </a:prstGeom>
        </p:spPr>
        <p:txBody>
          <a:bodyPr wrap="square" lIns="0" tIns="0" rIns="0" bIns="0" rtlCol="0" anchor="t">
            <a:spAutoFit/>
          </a:bodyPr>
          <a:lstStyle/>
          <a:p>
            <a:pPr algn="ctr">
              <a:lnSpc>
                <a:spcPts val="4480"/>
              </a:lnSpc>
            </a:pPr>
            <a:r>
              <a:rPr lang="en-US" sz="3200" dirty="0">
                <a:latin typeface="Times New Roman" panose="02020603050405020304" pitchFamily="18" charset="0"/>
                <a:cs typeface="Times New Roman" panose="02020603050405020304" pitchFamily="18" charset="0"/>
              </a:rPr>
              <a:t>L</a:t>
            </a:r>
            <a:r>
              <a:rPr lang="en-US" sz="3200" b="0" i="0" dirty="0">
                <a:effectLst/>
                <a:latin typeface="Times New Roman" panose="02020603050405020304" pitchFamily="18" charset="0"/>
                <a:cs typeface="Times New Roman" panose="02020603050405020304" pitchFamily="18" charset="0"/>
              </a:rPr>
              <a:t>ow-demand orders</a:t>
            </a:r>
            <a:endParaRPr lang="en-US" sz="3200" dirty="0">
              <a:latin typeface="Times New Roman" panose="02020603050405020304" pitchFamily="18" charset="0"/>
              <a:ea typeface="Quattrocento Bold"/>
              <a:cs typeface="Times New Roman" panose="02020603050405020304" pitchFamily="18" charset="0"/>
              <a:sym typeface="Quattrocento Bold"/>
            </a:endParaRPr>
          </a:p>
        </p:txBody>
      </p:sp>
      <p:sp>
        <p:nvSpPr>
          <p:cNvPr id="12" name="TextBox 7">
            <a:extLst>
              <a:ext uri="{FF2B5EF4-FFF2-40B4-BE49-F238E27FC236}">
                <a16:creationId xmlns:a16="http://schemas.microsoft.com/office/drawing/2014/main" id="{64F3842B-4035-10BE-9F92-215B83323039}"/>
              </a:ext>
            </a:extLst>
          </p:cNvPr>
          <p:cNvSpPr txBox="1"/>
          <p:nvPr/>
        </p:nvSpPr>
        <p:spPr>
          <a:xfrm>
            <a:off x="-457200" y="5001330"/>
            <a:ext cx="4835589" cy="528350"/>
          </a:xfrm>
          <a:prstGeom prst="rect">
            <a:avLst/>
          </a:prstGeom>
        </p:spPr>
        <p:txBody>
          <a:bodyPr wrap="square" lIns="0" tIns="0" rIns="0" bIns="0" rtlCol="0" anchor="t">
            <a:spAutoFit/>
          </a:bodyPr>
          <a:lstStyle/>
          <a:p>
            <a:pPr algn="ctr">
              <a:lnSpc>
                <a:spcPts val="4480"/>
              </a:lnSpc>
            </a:pPr>
            <a:r>
              <a:rPr lang="en-US" sz="3200" dirty="0">
                <a:latin typeface="Times New Roman" panose="02020603050405020304" pitchFamily="18" charset="0"/>
                <a:cs typeface="Times New Roman" panose="02020603050405020304" pitchFamily="18" charset="0"/>
              </a:rPr>
              <a:t>M</a:t>
            </a:r>
            <a:r>
              <a:rPr lang="en-US" sz="3200" b="0" i="0" dirty="0">
                <a:effectLst/>
                <a:latin typeface="Times New Roman" panose="02020603050405020304" pitchFamily="18" charset="0"/>
                <a:cs typeface="Times New Roman" panose="02020603050405020304" pitchFamily="18" charset="0"/>
              </a:rPr>
              <a:t>edium-demand orders</a:t>
            </a:r>
            <a:endParaRPr lang="en-US" sz="3200" dirty="0">
              <a:latin typeface="Times New Roman" panose="02020603050405020304" pitchFamily="18" charset="0"/>
              <a:ea typeface="Quattrocento Bold"/>
              <a:cs typeface="Times New Roman" panose="02020603050405020304" pitchFamily="18" charset="0"/>
              <a:sym typeface="Quattrocento Bold"/>
            </a:endParaRPr>
          </a:p>
        </p:txBody>
      </p:sp>
      <p:sp>
        <p:nvSpPr>
          <p:cNvPr id="13" name="TextBox 7">
            <a:extLst>
              <a:ext uri="{FF2B5EF4-FFF2-40B4-BE49-F238E27FC236}">
                <a16:creationId xmlns:a16="http://schemas.microsoft.com/office/drawing/2014/main" id="{BB0EEBF6-752E-8029-B813-A779C568B144}"/>
              </a:ext>
            </a:extLst>
          </p:cNvPr>
          <p:cNvSpPr txBox="1"/>
          <p:nvPr/>
        </p:nvSpPr>
        <p:spPr>
          <a:xfrm>
            <a:off x="-265280" y="6517823"/>
            <a:ext cx="3995045" cy="548355"/>
          </a:xfrm>
          <a:prstGeom prst="rect">
            <a:avLst/>
          </a:prstGeom>
        </p:spPr>
        <p:txBody>
          <a:bodyPr wrap="square" lIns="0" tIns="0" rIns="0" bIns="0" rtlCol="0" anchor="t">
            <a:spAutoFit/>
          </a:bodyPr>
          <a:lstStyle/>
          <a:p>
            <a:pPr algn="ctr">
              <a:lnSpc>
                <a:spcPts val="4480"/>
              </a:lnSpc>
            </a:pPr>
            <a:r>
              <a:rPr lang="en-US" sz="3200" dirty="0">
                <a:latin typeface="Times New Roman" panose="02020603050405020304" pitchFamily="18" charset="0"/>
                <a:cs typeface="Times New Roman" panose="02020603050405020304" pitchFamily="18" charset="0"/>
              </a:rPr>
              <a:t>H</a:t>
            </a:r>
            <a:r>
              <a:rPr lang="en-US" sz="3200" b="0" i="0" dirty="0">
                <a:effectLst/>
                <a:latin typeface="Times New Roman" panose="02020603050405020304" pitchFamily="18" charset="0"/>
                <a:cs typeface="Times New Roman" panose="02020603050405020304" pitchFamily="18" charset="0"/>
              </a:rPr>
              <a:t>igh-demand orders</a:t>
            </a:r>
            <a:endParaRPr lang="en-US" sz="3200" dirty="0">
              <a:latin typeface="Times New Roman" panose="02020603050405020304" pitchFamily="18" charset="0"/>
              <a:ea typeface="Quattrocento Bold"/>
              <a:cs typeface="Times New Roman" panose="02020603050405020304" pitchFamily="18" charset="0"/>
              <a:sym typeface="Quattrocento Bold"/>
            </a:endParaRPr>
          </a:p>
        </p:txBody>
      </p:sp>
      <p:sp>
        <p:nvSpPr>
          <p:cNvPr id="3" name="TextBox 2">
            <a:extLst>
              <a:ext uri="{FF2B5EF4-FFF2-40B4-BE49-F238E27FC236}">
                <a16:creationId xmlns:a16="http://schemas.microsoft.com/office/drawing/2014/main" id="{34D1BAE8-0A67-75B7-E1C2-BB59869DD75B}"/>
              </a:ext>
            </a:extLst>
          </p:cNvPr>
          <p:cNvSpPr txBox="1"/>
          <p:nvPr/>
        </p:nvSpPr>
        <p:spPr>
          <a:xfrm>
            <a:off x="17830800" y="9833943"/>
            <a:ext cx="301686" cy="369332"/>
          </a:xfrm>
          <a:prstGeom prst="rect">
            <a:avLst/>
          </a:prstGeom>
          <a:noFill/>
        </p:spPr>
        <p:txBody>
          <a:bodyPr wrap="none" rtlCol="0">
            <a:spAutoFit/>
          </a:bodyPr>
          <a:lstStyle/>
          <a:p>
            <a:r>
              <a:rPr lang="en-US" dirty="0"/>
              <a:t>9</a:t>
            </a:r>
          </a:p>
        </p:txBody>
      </p:sp>
    </p:spTree>
    <p:extLst>
      <p:ext uri="{BB962C8B-B14F-4D97-AF65-F5344CB8AC3E}">
        <p14:creationId xmlns:p14="http://schemas.microsoft.com/office/powerpoint/2010/main" val="1931114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498B-DD61-1261-1C6B-EB0DF1584598}"/>
            </a:ext>
          </a:extLst>
        </p:cNvPr>
        <p:cNvGrpSpPr/>
        <p:nvPr/>
      </p:nvGrpSpPr>
      <p:grpSpPr>
        <a:xfrm>
          <a:off x="0" y="0"/>
          <a:ext cx="0" cy="0"/>
          <a:chOff x="0" y="0"/>
          <a:chExt cx="0" cy="0"/>
        </a:xfrm>
      </p:grpSpPr>
      <p:pic>
        <p:nvPicPr>
          <p:cNvPr id="46" name="Picture 45" descr="A graph of a discount&#10;&#10;Description automatically generated">
            <a:extLst>
              <a:ext uri="{FF2B5EF4-FFF2-40B4-BE49-F238E27FC236}">
                <a16:creationId xmlns:a16="http://schemas.microsoft.com/office/drawing/2014/main" id="{B727857F-10DD-BFDD-623B-68E15CD2FE4D}"/>
              </a:ext>
            </a:extLst>
          </p:cNvPr>
          <p:cNvPicPr>
            <a:picLocks noChangeAspect="1"/>
          </p:cNvPicPr>
          <p:nvPr/>
        </p:nvPicPr>
        <p:blipFill>
          <a:blip r:embed="rId2"/>
          <a:stretch>
            <a:fillRect/>
          </a:stretch>
        </p:blipFill>
        <p:spPr>
          <a:xfrm>
            <a:off x="7696200" y="2714592"/>
            <a:ext cx="9971008" cy="6330322"/>
          </a:xfrm>
          <a:prstGeom prst="rect">
            <a:avLst/>
          </a:prstGeom>
        </p:spPr>
      </p:pic>
      <p:sp>
        <p:nvSpPr>
          <p:cNvPr id="47" name="TextBox 10">
            <a:extLst>
              <a:ext uri="{FF2B5EF4-FFF2-40B4-BE49-F238E27FC236}">
                <a16:creationId xmlns:a16="http://schemas.microsoft.com/office/drawing/2014/main" id="{41C979A2-1B05-E482-2474-A866DCFCB407}"/>
              </a:ext>
            </a:extLst>
          </p:cNvPr>
          <p:cNvSpPr txBox="1"/>
          <p:nvPr/>
        </p:nvSpPr>
        <p:spPr>
          <a:xfrm>
            <a:off x="2057400" y="968773"/>
            <a:ext cx="14173200" cy="936218"/>
          </a:xfrm>
          <a:prstGeom prst="rect">
            <a:avLst/>
          </a:prstGeom>
        </p:spPr>
        <p:txBody>
          <a:bodyPr wrap="square"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	Inferential Analysis </a:t>
            </a:r>
          </a:p>
        </p:txBody>
      </p:sp>
      <p:sp>
        <p:nvSpPr>
          <p:cNvPr id="48" name="TextBox 20">
            <a:extLst>
              <a:ext uri="{FF2B5EF4-FFF2-40B4-BE49-F238E27FC236}">
                <a16:creationId xmlns:a16="http://schemas.microsoft.com/office/drawing/2014/main" id="{8908B6C3-564C-5991-0DC6-192B6A5E5461}"/>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49" name="TextBox 5">
            <a:extLst>
              <a:ext uri="{FF2B5EF4-FFF2-40B4-BE49-F238E27FC236}">
                <a16:creationId xmlns:a16="http://schemas.microsoft.com/office/drawing/2014/main" id="{28490C31-E4F9-A080-3EA9-92FEEC53FA9D}"/>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
        <p:nvSpPr>
          <p:cNvPr id="51" name="TextBox 7">
            <a:extLst>
              <a:ext uri="{FF2B5EF4-FFF2-40B4-BE49-F238E27FC236}">
                <a16:creationId xmlns:a16="http://schemas.microsoft.com/office/drawing/2014/main" id="{30077299-AD0E-AFB0-95C5-C7409F07CF46}"/>
              </a:ext>
            </a:extLst>
          </p:cNvPr>
          <p:cNvSpPr txBox="1"/>
          <p:nvPr/>
        </p:nvSpPr>
        <p:spPr>
          <a:xfrm>
            <a:off x="0" y="4364420"/>
            <a:ext cx="7532608" cy="2866169"/>
          </a:xfrm>
          <a:prstGeom prst="rect">
            <a:avLst/>
          </a:prstGeom>
        </p:spPr>
        <p:txBody>
          <a:bodyPr wrap="square" lIns="0" tIns="0" rIns="0" bIns="0" rtlCol="0" anchor="t">
            <a:spAutoFit/>
          </a:bodyPr>
          <a:lstStyle/>
          <a:p>
            <a:pPr marL="517525" indent="-288925">
              <a:lnSpc>
                <a:spcPct val="150000"/>
              </a:lnSpc>
              <a:buFont typeface="Arial" panose="020B0604020202020204" pitchFamily="34" charset="0"/>
              <a:buChar char="•"/>
            </a:pPr>
            <a:r>
              <a:rPr lang="en-US" sz="3200" b="1" dirty="0">
                <a:latin typeface="Times New Roman" panose="02020603050405020304" pitchFamily="18" charset="0"/>
                <a:ea typeface="Quattrocento Bold"/>
                <a:cs typeface="Times New Roman" panose="02020603050405020304" pitchFamily="18" charset="0"/>
                <a:sym typeface="Quattrocento Bold"/>
              </a:rPr>
              <a:t>Peak Demand at Moderate Discounts</a:t>
            </a:r>
          </a:p>
          <a:p>
            <a:pPr marL="517525" indent="-288925">
              <a:lnSpc>
                <a:spcPct val="150000"/>
              </a:lnSpc>
              <a:buFont typeface="Arial" panose="020B0604020202020204" pitchFamily="34" charset="0"/>
              <a:buChar char="•"/>
            </a:pPr>
            <a:r>
              <a:rPr lang="en-US" sz="3200" b="1" dirty="0">
                <a:latin typeface="Times New Roman" panose="02020603050405020304" pitchFamily="18" charset="0"/>
                <a:ea typeface="Quattrocento Bold"/>
                <a:cs typeface="Times New Roman" panose="02020603050405020304" pitchFamily="18" charset="0"/>
                <a:sym typeface="Quattrocento Bold"/>
              </a:rPr>
              <a:t>Diminishing Returns on High Discounts</a:t>
            </a:r>
          </a:p>
          <a:p>
            <a:pPr marL="517525" indent="-288925">
              <a:lnSpc>
                <a:spcPct val="150000"/>
              </a:lnSpc>
              <a:buFont typeface="Arial" panose="020B0604020202020204" pitchFamily="34" charset="0"/>
              <a:buChar char="•"/>
            </a:pPr>
            <a:r>
              <a:rPr lang="en-US" sz="3200" b="1" dirty="0">
                <a:latin typeface="Times New Roman" panose="02020603050405020304" pitchFamily="18" charset="0"/>
                <a:ea typeface="Quattrocento Bold"/>
                <a:cs typeface="Times New Roman" panose="02020603050405020304" pitchFamily="18" charset="0"/>
                <a:sym typeface="Quattrocento Bold"/>
              </a:rPr>
              <a:t>Minimal Orders with Negative Discounts</a:t>
            </a:r>
          </a:p>
        </p:txBody>
      </p:sp>
      <p:sp>
        <p:nvSpPr>
          <p:cNvPr id="3" name="TextBox 2">
            <a:extLst>
              <a:ext uri="{FF2B5EF4-FFF2-40B4-BE49-F238E27FC236}">
                <a16:creationId xmlns:a16="http://schemas.microsoft.com/office/drawing/2014/main" id="{EF712060-0F56-4919-1E70-49D3B95E35E0}"/>
              </a:ext>
            </a:extLst>
          </p:cNvPr>
          <p:cNvSpPr txBox="1"/>
          <p:nvPr/>
        </p:nvSpPr>
        <p:spPr>
          <a:xfrm>
            <a:off x="17830800" y="9833943"/>
            <a:ext cx="418704" cy="369332"/>
          </a:xfrm>
          <a:prstGeom prst="rect">
            <a:avLst/>
          </a:prstGeom>
          <a:noFill/>
        </p:spPr>
        <p:txBody>
          <a:bodyPr wrap="none" rtlCol="0">
            <a:spAutoFit/>
          </a:bodyPr>
          <a:lstStyle/>
          <a:p>
            <a:r>
              <a:rPr lang="en-US" dirty="0"/>
              <a:t>10</a:t>
            </a:r>
          </a:p>
        </p:txBody>
      </p:sp>
    </p:spTree>
    <p:extLst>
      <p:ext uri="{BB962C8B-B14F-4D97-AF65-F5344CB8AC3E}">
        <p14:creationId xmlns:p14="http://schemas.microsoft.com/office/powerpoint/2010/main" val="6894556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1D1AB-F80B-B6DC-A96D-89376E5E677B}"/>
            </a:ext>
          </a:extLst>
        </p:cNvPr>
        <p:cNvGrpSpPr/>
        <p:nvPr/>
      </p:nvGrpSpPr>
      <p:grpSpPr>
        <a:xfrm>
          <a:off x="0" y="0"/>
          <a:ext cx="0" cy="0"/>
          <a:chOff x="0" y="0"/>
          <a:chExt cx="0" cy="0"/>
        </a:xfrm>
      </p:grpSpPr>
      <p:sp>
        <p:nvSpPr>
          <p:cNvPr id="47" name="TextBox 10">
            <a:extLst>
              <a:ext uri="{FF2B5EF4-FFF2-40B4-BE49-F238E27FC236}">
                <a16:creationId xmlns:a16="http://schemas.microsoft.com/office/drawing/2014/main" id="{A2F05AE0-538D-43CC-0110-3D0BA4BD57E9}"/>
              </a:ext>
            </a:extLst>
          </p:cNvPr>
          <p:cNvSpPr txBox="1"/>
          <p:nvPr/>
        </p:nvSpPr>
        <p:spPr>
          <a:xfrm>
            <a:off x="2057400" y="968773"/>
            <a:ext cx="14173200" cy="936218"/>
          </a:xfrm>
          <a:prstGeom prst="rect">
            <a:avLst/>
          </a:prstGeom>
        </p:spPr>
        <p:txBody>
          <a:bodyPr wrap="square"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	Statistical Test</a:t>
            </a:r>
          </a:p>
        </p:txBody>
      </p:sp>
      <p:sp>
        <p:nvSpPr>
          <p:cNvPr id="48" name="TextBox 20">
            <a:extLst>
              <a:ext uri="{FF2B5EF4-FFF2-40B4-BE49-F238E27FC236}">
                <a16:creationId xmlns:a16="http://schemas.microsoft.com/office/drawing/2014/main" id="{D1DFA360-F3E8-785C-0023-A76CEAA0DFEF}"/>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49" name="TextBox 5">
            <a:extLst>
              <a:ext uri="{FF2B5EF4-FFF2-40B4-BE49-F238E27FC236}">
                <a16:creationId xmlns:a16="http://schemas.microsoft.com/office/drawing/2014/main" id="{9CFF447A-2853-A7EB-576C-FFD7BE003384}"/>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
        <p:nvSpPr>
          <p:cNvPr id="51" name="TextBox 7">
            <a:extLst>
              <a:ext uri="{FF2B5EF4-FFF2-40B4-BE49-F238E27FC236}">
                <a16:creationId xmlns:a16="http://schemas.microsoft.com/office/drawing/2014/main" id="{0D053CB3-F1AB-9056-3C5D-2FC604BF5634}"/>
              </a:ext>
            </a:extLst>
          </p:cNvPr>
          <p:cNvSpPr txBox="1"/>
          <p:nvPr/>
        </p:nvSpPr>
        <p:spPr>
          <a:xfrm>
            <a:off x="533400" y="1874502"/>
            <a:ext cx="17297400" cy="7740581"/>
          </a:xfrm>
          <a:prstGeom prst="rect">
            <a:avLst/>
          </a:prstGeom>
        </p:spPr>
        <p:txBody>
          <a:bodyPr wrap="square" lIns="0" tIns="0" rIns="0" bIns="0" rtlCol="0" anchor="t">
            <a:spAutoFit/>
          </a:bodyPr>
          <a:lstStyle/>
          <a:p>
            <a:pPr marL="228600">
              <a:spcBef>
                <a:spcPts val="600"/>
              </a:spcBef>
            </a:pPr>
            <a:r>
              <a:rPr lang="en-US" sz="3200" b="1" dirty="0">
                <a:latin typeface="Times New Roman" panose="02020603050405020304" pitchFamily="18" charset="0"/>
                <a:ea typeface="Quattrocento Bold"/>
                <a:cs typeface="Times New Roman" panose="02020603050405020304" pitchFamily="18" charset="0"/>
                <a:sym typeface="Quattrocento Bold"/>
              </a:rPr>
              <a:t>ANOVA:</a:t>
            </a:r>
          </a:p>
          <a:p>
            <a:pPr marL="974725" lvl="1" indent="-288925">
              <a:spcBef>
                <a:spcPts val="600"/>
              </a:spcBef>
              <a:buFont typeface="Arial" panose="020B0604020202020204" pitchFamily="34" charset="0"/>
              <a:buChar char="•"/>
            </a:pPr>
            <a:r>
              <a:rPr lang="en-US" sz="3200" b="1" dirty="0">
                <a:latin typeface="Times New Roman" panose="02020603050405020304" pitchFamily="18" charset="0"/>
                <a:ea typeface="Quattrocento Bold"/>
                <a:cs typeface="Times New Roman" panose="02020603050405020304" pitchFamily="18" charset="0"/>
                <a:sym typeface="Quattrocento Bold"/>
              </a:rPr>
              <a:t>Purpose: </a:t>
            </a:r>
            <a:r>
              <a:rPr lang="en-US" sz="3200" dirty="0">
                <a:latin typeface="Times New Roman" panose="02020603050405020304" pitchFamily="18" charset="0"/>
                <a:ea typeface="Quattrocento Bold"/>
                <a:cs typeface="Times New Roman" panose="02020603050405020304" pitchFamily="18" charset="0"/>
                <a:sym typeface="Quattrocento Bold"/>
              </a:rPr>
              <a:t>Analyze whether there are statistically significant differences in the number of orders across different discount categories.</a:t>
            </a:r>
          </a:p>
          <a:p>
            <a:pPr marL="974725" lvl="1" indent="-288925">
              <a:spcBef>
                <a:spcPts val="600"/>
              </a:spcBef>
              <a:buFont typeface="Arial" panose="020B0604020202020204" pitchFamily="34" charset="0"/>
              <a:buChar char="•"/>
            </a:pPr>
            <a:r>
              <a:rPr lang="en-US" sz="3200" b="1" dirty="0">
                <a:latin typeface="Times New Roman" panose="02020603050405020304" pitchFamily="18" charset="0"/>
                <a:ea typeface="Quattrocento Bold"/>
                <a:cs typeface="Times New Roman" panose="02020603050405020304" pitchFamily="18" charset="0"/>
                <a:sym typeface="Quattrocento Bold"/>
              </a:rPr>
              <a:t>Result:  </a:t>
            </a:r>
          </a:p>
          <a:p>
            <a:pPr marL="1600200" lvl="2" indent="-457200">
              <a:spcBef>
                <a:spcPts val="600"/>
              </a:spcBef>
              <a:buFont typeface="Courier New" panose="02070309020205020404" pitchFamily="49" charset="0"/>
              <a:buChar char="o"/>
            </a:pPr>
            <a:r>
              <a:rPr lang="en-US" sz="3200" b="1" dirty="0">
                <a:latin typeface="Times New Roman" panose="02020603050405020304" pitchFamily="18" charset="0"/>
                <a:ea typeface="Quattrocento Bold"/>
                <a:cs typeface="Times New Roman" panose="02020603050405020304" pitchFamily="18" charset="0"/>
                <a:sym typeface="Quattrocento Bold"/>
              </a:rPr>
              <a:t>F-value: </a:t>
            </a:r>
            <a:r>
              <a:rPr lang="en-US" sz="3200" dirty="0">
                <a:latin typeface="Times New Roman" panose="02020603050405020304" pitchFamily="18" charset="0"/>
                <a:ea typeface="Quattrocento Bold"/>
                <a:cs typeface="Times New Roman" panose="02020603050405020304" pitchFamily="18" charset="0"/>
                <a:sym typeface="Quattrocento Bold"/>
              </a:rPr>
              <a:t>2.431</a:t>
            </a:r>
          </a:p>
          <a:p>
            <a:pPr marL="1600200" lvl="2" indent="-457200">
              <a:spcBef>
                <a:spcPts val="600"/>
              </a:spcBef>
              <a:buFont typeface="Courier New" panose="02070309020205020404" pitchFamily="49" charset="0"/>
              <a:buChar char="o"/>
            </a:pPr>
            <a:r>
              <a:rPr lang="en-US" sz="3200" b="1" dirty="0">
                <a:latin typeface="Times New Roman" panose="02020603050405020304" pitchFamily="18" charset="0"/>
                <a:ea typeface="Quattrocento Bold"/>
                <a:cs typeface="Times New Roman" panose="02020603050405020304" pitchFamily="18" charset="0"/>
                <a:sym typeface="Quattrocento Bold"/>
              </a:rPr>
              <a:t>p-value: </a:t>
            </a:r>
            <a:r>
              <a:rPr lang="en-US" sz="3200" dirty="0">
                <a:latin typeface="Times New Roman" panose="02020603050405020304" pitchFamily="18" charset="0"/>
                <a:ea typeface="Quattrocento Bold"/>
                <a:cs typeface="Times New Roman" panose="02020603050405020304" pitchFamily="18" charset="0"/>
                <a:sym typeface="Quattrocento Bold"/>
              </a:rPr>
              <a:t>0.0987</a:t>
            </a:r>
          </a:p>
          <a:p>
            <a:pPr marL="808038" lvl="2" indent="-519113">
              <a:spcBef>
                <a:spcPts val="600"/>
              </a:spcBef>
            </a:pPr>
            <a:r>
              <a:rPr lang="en-US" sz="3200" b="1" dirty="0">
                <a:latin typeface="Times New Roman" panose="02020603050405020304" pitchFamily="18" charset="0"/>
                <a:ea typeface="Quattrocento Bold"/>
                <a:cs typeface="Times New Roman" panose="02020603050405020304" pitchFamily="18" charset="0"/>
                <a:sym typeface="Wingdings" panose="05000000000000000000" pitchFamily="2" charset="2"/>
              </a:rPr>
              <a:t></a:t>
            </a:r>
            <a:r>
              <a:rPr lang="en-US" sz="3200" b="1" dirty="0">
                <a:latin typeface="Times New Roman" panose="02020603050405020304" pitchFamily="18" charset="0"/>
                <a:ea typeface="Quattrocento Bold"/>
                <a:cs typeface="Times New Roman" panose="02020603050405020304" pitchFamily="18" charset="0"/>
                <a:sym typeface="Quattrocento Bold"/>
              </a:rPr>
              <a:t>Conclusion: </a:t>
            </a:r>
            <a:r>
              <a:rPr lang="en-US" sz="3200" dirty="0">
                <a:latin typeface="Times New Roman" panose="02020603050405020304" pitchFamily="18" charset="0"/>
                <a:ea typeface="Quattrocento Bold"/>
                <a:cs typeface="Times New Roman" panose="02020603050405020304" pitchFamily="18" charset="0"/>
                <a:sym typeface="Quattrocento Bold"/>
              </a:rPr>
              <a:t>The number of orders significantly differs across the discount categories</a:t>
            </a:r>
          </a:p>
          <a:p>
            <a:pPr marL="228600">
              <a:spcBef>
                <a:spcPts val="600"/>
              </a:spcBef>
            </a:pPr>
            <a:r>
              <a:rPr lang="en-US" sz="3200" b="1" dirty="0">
                <a:latin typeface="Times New Roman" panose="02020603050405020304" pitchFamily="18" charset="0"/>
                <a:ea typeface="Quattrocento Bold"/>
                <a:cs typeface="Times New Roman" panose="02020603050405020304" pitchFamily="18" charset="0"/>
                <a:sym typeface="Quattrocento Bold"/>
              </a:rPr>
              <a:t>Chi-square:</a:t>
            </a:r>
          </a:p>
          <a:p>
            <a:pPr marL="974725" lvl="1" indent="-288925">
              <a:spcBef>
                <a:spcPts val="600"/>
              </a:spcBef>
              <a:buFont typeface="Arial" panose="020B0604020202020204" pitchFamily="34" charset="0"/>
              <a:buChar char="•"/>
            </a:pPr>
            <a:r>
              <a:rPr lang="en-US" sz="3200" b="1" dirty="0">
                <a:latin typeface="Times New Roman" panose="02020603050405020304" pitchFamily="18" charset="0"/>
                <a:ea typeface="Quattrocento Bold"/>
                <a:cs typeface="Times New Roman" panose="02020603050405020304" pitchFamily="18" charset="0"/>
                <a:sym typeface="Quattrocento Bold"/>
              </a:rPr>
              <a:t>Purpose: </a:t>
            </a:r>
            <a:r>
              <a:rPr lang="en-US" sz="3200" dirty="0">
                <a:latin typeface="Times New Roman" panose="02020603050405020304" pitchFamily="18" charset="0"/>
                <a:ea typeface="Quattrocento Bold"/>
                <a:cs typeface="Times New Roman" panose="02020603050405020304" pitchFamily="18" charset="0"/>
                <a:sym typeface="Quattrocento Bold"/>
              </a:rPr>
              <a:t>Evaluate the relationship between the discount category and the order volume category.</a:t>
            </a:r>
          </a:p>
          <a:p>
            <a:pPr marL="974725" lvl="1" indent="-288925">
              <a:spcBef>
                <a:spcPts val="600"/>
              </a:spcBef>
              <a:buFont typeface="Arial" panose="020B0604020202020204" pitchFamily="34" charset="0"/>
              <a:buChar char="•"/>
            </a:pPr>
            <a:r>
              <a:rPr lang="en-US" sz="3200" b="1" dirty="0">
                <a:latin typeface="Times New Roman" panose="02020603050405020304" pitchFamily="18" charset="0"/>
                <a:ea typeface="Quattrocento Bold"/>
                <a:cs typeface="Times New Roman" panose="02020603050405020304" pitchFamily="18" charset="0"/>
                <a:sym typeface="Quattrocento Bold"/>
              </a:rPr>
              <a:t>Result: </a:t>
            </a:r>
          </a:p>
          <a:p>
            <a:pPr marL="1600200" lvl="2" indent="-457200">
              <a:spcBef>
                <a:spcPts val="600"/>
              </a:spcBef>
              <a:buFont typeface="Courier New" panose="02070309020205020404" pitchFamily="49" charset="0"/>
              <a:buChar char="o"/>
            </a:pPr>
            <a:r>
              <a:rPr lang="en-US" sz="3200" dirty="0">
                <a:latin typeface="Times New Roman" panose="02020603050405020304" pitchFamily="18" charset="0"/>
                <a:ea typeface="Quattrocento Bold"/>
                <a:cs typeface="Times New Roman" panose="02020603050405020304" pitchFamily="18" charset="0"/>
                <a:sym typeface="Quattrocento Bold"/>
              </a:rPr>
              <a:t>Chi-Square Statistic: 17.915</a:t>
            </a:r>
          </a:p>
          <a:p>
            <a:pPr marL="1600200" lvl="2" indent="-457200">
              <a:spcBef>
                <a:spcPts val="600"/>
              </a:spcBef>
              <a:buFont typeface="Courier New" panose="02070309020205020404" pitchFamily="49" charset="0"/>
              <a:buChar char="o"/>
            </a:pPr>
            <a:r>
              <a:rPr lang="en-US" sz="3200" dirty="0">
                <a:latin typeface="Times New Roman" panose="02020603050405020304" pitchFamily="18" charset="0"/>
                <a:ea typeface="Quattrocento Bold"/>
                <a:cs typeface="Times New Roman" panose="02020603050405020304" pitchFamily="18" charset="0"/>
                <a:sym typeface="Quattrocento Bold"/>
              </a:rPr>
              <a:t>p-value: 0.001282</a:t>
            </a:r>
          </a:p>
          <a:p>
            <a:pPr marL="974725" lvl="2" indent="-349250">
              <a:spcBef>
                <a:spcPts val="600"/>
              </a:spcBef>
              <a:buFont typeface="Arial" panose="020B0604020202020204" pitchFamily="34" charset="0"/>
              <a:buChar char="•"/>
            </a:pPr>
            <a:r>
              <a:rPr lang="en-US" sz="3200" b="1" dirty="0">
                <a:latin typeface="Times New Roman" panose="02020603050405020304" pitchFamily="18" charset="0"/>
                <a:ea typeface="Quattrocento Bold"/>
                <a:cs typeface="Times New Roman" panose="02020603050405020304" pitchFamily="18" charset="0"/>
                <a:sym typeface="Quattrocento Bold"/>
              </a:rPr>
              <a:t>Conclusion: </a:t>
            </a:r>
            <a:r>
              <a:rPr lang="en-US" sz="3200" dirty="0">
                <a:latin typeface="Times New Roman" panose="02020603050405020304" pitchFamily="18" charset="0"/>
                <a:ea typeface="Quattrocento Bold"/>
                <a:cs typeface="Times New Roman" panose="02020603050405020304" pitchFamily="18" charset="0"/>
                <a:sym typeface="Quattrocento Bold"/>
              </a:rPr>
              <a:t>The distribution of orders across low, medium, and high discount categories is not random and that discount levels influence order volume.</a:t>
            </a:r>
          </a:p>
        </p:txBody>
      </p:sp>
      <p:sp>
        <p:nvSpPr>
          <p:cNvPr id="3" name="TextBox 2">
            <a:extLst>
              <a:ext uri="{FF2B5EF4-FFF2-40B4-BE49-F238E27FC236}">
                <a16:creationId xmlns:a16="http://schemas.microsoft.com/office/drawing/2014/main" id="{F0A6DFB6-A129-67CE-1F6B-D31567680F7C}"/>
              </a:ext>
            </a:extLst>
          </p:cNvPr>
          <p:cNvSpPr txBox="1"/>
          <p:nvPr/>
        </p:nvSpPr>
        <p:spPr>
          <a:xfrm>
            <a:off x="17830800" y="9833943"/>
            <a:ext cx="418704" cy="369332"/>
          </a:xfrm>
          <a:prstGeom prst="rect">
            <a:avLst/>
          </a:prstGeom>
          <a:noFill/>
        </p:spPr>
        <p:txBody>
          <a:bodyPr wrap="none" rtlCol="0">
            <a:spAutoFit/>
          </a:bodyPr>
          <a:lstStyle/>
          <a:p>
            <a:r>
              <a:rPr lang="en-US" dirty="0"/>
              <a:t>11</a:t>
            </a:r>
          </a:p>
        </p:txBody>
      </p:sp>
    </p:spTree>
    <p:extLst>
      <p:ext uri="{BB962C8B-B14F-4D97-AF65-F5344CB8AC3E}">
        <p14:creationId xmlns:p14="http://schemas.microsoft.com/office/powerpoint/2010/main" val="40055892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7F598-EB0F-6A76-79F0-FAEA8E6F8C12}"/>
            </a:ext>
          </a:extLst>
        </p:cNvPr>
        <p:cNvGrpSpPr/>
        <p:nvPr/>
      </p:nvGrpSpPr>
      <p:grpSpPr>
        <a:xfrm>
          <a:off x="0" y="0"/>
          <a:ext cx="0" cy="0"/>
          <a:chOff x="0" y="0"/>
          <a:chExt cx="0" cy="0"/>
        </a:xfrm>
      </p:grpSpPr>
      <p:sp>
        <p:nvSpPr>
          <p:cNvPr id="5" name="TextBox 5">
            <a:extLst>
              <a:ext uri="{FF2B5EF4-FFF2-40B4-BE49-F238E27FC236}">
                <a16:creationId xmlns:a16="http://schemas.microsoft.com/office/drawing/2014/main" id="{04153944-0765-D24A-41E2-2B278B0E3578}"/>
              </a:ext>
            </a:extLst>
          </p:cNvPr>
          <p:cNvSpPr txBox="1"/>
          <p:nvPr/>
        </p:nvSpPr>
        <p:spPr>
          <a:xfrm>
            <a:off x="2895600" y="4648268"/>
            <a:ext cx="12496800" cy="990464"/>
          </a:xfrm>
          <a:prstGeom prst="rect">
            <a:avLst/>
          </a:prstGeom>
        </p:spPr>
        <p:txBody>
          <a:bodyPr wrap="square" lIns="0" tIns="0" rIns="0" bIns="0" rtlCol="0" anchor="t">
            <a:spAutoFit/>
          </a:bodyPr>
          <a:lstStyle/>
          <a:p>
            <a:pPr algn="ctr">
              <a:lnSpc>
                <a:spcPts val="7200"/>
              </a:lnSpc>
            </a:pPr>
            <a:r>
              <a:rPr lang="en-US" sz="8800" b="1" spc="288" dirty="0">
                <a:solidFill>
                  <a:srgbClr val="FC6233"/>
                </a:solidFill>
                <a:latin typeface="Times New Roman" panose="02020603050405020304" pitchFamily="18" charset="0"/>
                <a:ea typeface="Maragsa"/>
                <a:cs typeface="Times New Roman" panose="02020603050405020304" pitchFamily="18" charset="0"/>
                <a:sym typeface="Maragsa"/>
              </a:rPr>
              <a:t>ARIMAX Model</a:t>
            </a:r>
          </a:p>
        </p:txBody>
      </p:sp>
      <p:sp>
        <p:nvSpPr>
          <p:cNvPr id="14" name="TextBox 20">
            <a:extLst>
              <a:ext uri="{FF2B5EF4-FFF2-40B4-BE49-F238E27FC236}">
                <a16:creationId xmlns:a16="http://schemas.microsoft.com/office/drawing/2014/main" id="{DE32225E-AA8D-D100-26C6-B685C1FF0B8F}"/>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15" name="TextBox 5">
            <a:extLst>
              <a:ext uri="{FF2B5EF4-FFF2-40B4-BE49-F238E27FC236}">
                <a16:creationId xmlns:a16="http://schemas.microsoft.com/office/drawing/2014/main" id="{38687CB6-F53A-0B3D-8ED9-12AA161BF8DC}"/>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Tree>
    <p:extLst>
      <p:ext uri="{BB962C8B-B14F-4D97-AF65-F5344CB8AC3E}">
        <p14:creationId xmlns:p14="http://schemas.microsoft.com/office/powerpoint/2010/main" val="41865861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8D54-515E-F417-2D2A-55A923F02CB6}"/>
            </a:ext>
          </a:extLst>
        </p:cNvPr>
        <p:cNvGrpSpPr/>
        <p:nvPr/>
      </p:nvGrpSpPr>
      <p:grpSpPr>
        <a:xfrm>
          <a:off x="0" y="0"/>
          <a:ext cx="0" cy="0"/>
          <a:chOff x="0" y="0"/>
          <a:chExt cx="0" cy="0"/>
        </a:xfrm>
      </p:grpSpPr>
      <p:sp>
        <p:nvSpPr>
          <p:cNvPr id="47" name="TextBox 10">
            <a:extLst>
              <a:ext uri="{FF2B5EF4-FFF2-40B4-BE49-F238E27FC236}">
                <a16:creationId xmlns:a16="http://schemas.microsoft.com/office/drawing/2014/main" id="{00B8F97D-27A4-6B88-7B9C-F5C38B607149}"/>
              </a:ext>
            </a:extLst>
          </p:cNvPr>
          <p:cNvSpPr txBox="1"/>
          <p:nvPr/>
        </p:nvSpPr>
        <p:spPr>
          <a:xfrm>
            <a:off x="1143000" y="968773"/>
            <a:ext cx="16002000" cy="936218"/>
          </a:xfrm>
          <a:prstGeom prst="rect">
            <a:avLst/>
          </a:prstGeom>
        </p:spPr>
        <p:txBody>
          <a:bodyPr wrap="square"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Least Ordered Meals</a:t>
            </a:r>
          </a:p>
        </p:txBody>
      </p:sp>
      <p:sp>
        <p:nvSpPr>
          <p:cNvPr id="48" name="TextBox 20">
            <a:extLst>
              <a:ext uri="{FF2B5EF4-FFF2-40B4-BE49-F238E27FC236}">
                <a16:creationId xmlns:a16="http://schemas.microsoft.com/office/drawing/2014/main" id="{812254AC-DCA2-02E0-E352-4AC342FEFBCC}"/>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49" name="TextBox 5">
            <a:extLst>
              <a:ext uri="{FF2B5EF4-FFF2-40B4-BE49-F238E27FC236}">
                <a16:creationId xmlns:a16="http://schemas.microsoft.com/office/drawing/2014/main" id="{5774F615-23CB-0680-E8B7-93E89284E251}"/>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
        <p:nvSpPr>
          <p:cNvPr id="3" name="TextBox 7">
            <a:extLst>
              <a:ext uri="{FF2B5EF4-FFF2-40B4-BE49-F238E27FC236}">
                <a16:creationId xmlns:a16="http://schemas.microsoft.com/office/drawing/2014/main" id="{91E1E8F9-A76B-63D8-F6F2-E5E9F04C1125}"/>
              </a:ext>
            </a:extLst>
          </p:cNvPr>
          <p:cNvSpPr txBox="1"/>
          <p:nvPr/>
        </p:nvSpPr>
        <p:spPr>
          <a:xfrm>
            <a:off x="7146477" y="1906087"/>
            <a:ext cx="3995045" cy="548355"/>
          </a:xfrm>
          <a:prstGeom prst="rect">
            <a:avLst/>
          </a:prstGeom>
        </p:spPr>
        <p:txBody>
          <a:bodyPr wrap="square" lIns="0" tIns="0" rIns="0" bIns="0" rtlCol="0" anchor="t">
            <a:spAutoFit/>
          </a:bodyPr>
          <a:lstStyle/>
          <a:p>
            <a:pPr algn="ctr">
              <a:lnSpc>
                <a:spcPts val="4480"/>
              </a:lnSpc>
            </a:pPr>
            <a:r>
              <a:rPr lang="en-US" sz="3200" b="1" dirty="0">
                <a:solidFill>
                  <a:srgbClr val="FC6233"/>
                </a:solidFill>
                <a:latin typeface="Times New Roman" panose="02020603050405020304" pitchFamily="18" charset="0"/>
                <a:ea typeface="Quattrocento Bold"/>
                <a:cs typeface="Times New Roman" panose="02020603050405020304" pitchFamily="18" charset="0"/>
                <a:sym typeface="Quattrocento Bold"/>
              </a:rPr>
              <a:t>Model Selection</a:t>
            </a:r>
          </a:p>
        </p:txBody>
      </p:sp>
      <p:pic>
        <p:nvPicPr>
          <p:cNvPr id="2" name="Picture 1" descr="A comparison of a graph&#10;&#10;Description automatically generated with medium confidence">
            <a:extLst>
              <a:ext uri="{FF2B5EF4-FFF2-40B4-BE49-F238E27FC236}">
                <a16:creationId xmlns:a16="http://schemas.microsoft.com/office/drawing/2014/main" id="{08E93898-A342-A214-E0EA-7E7A758AD4B7}"/>
              </a:ext>
            </a:extLst>
          </p:cNvPr>
          <p:cNvPicPr>
            <a:picLocks noChangeAspect="1"/>
          </p:cNvPicPr>
          <p:nvPr/>
        </p:nvPicPr>
        <p:blipFill>
          <a:blip r:embed="rId2"/>
          <a:stretch>
            <a:fillRect/>
          </a:stretch>
        </p:blipFill>
        <p:spPr>
          <a:xfrm>
            <a:off x="2286000" y="2534727"/>
            <a:ext cx="13298892" cy="7012070"/>
          </a:xfrm>
          <a:prstGeom prst="rect">
            <a:avLst/>
          </a:prstGeom>
        </p:spPr>
      </p:pic>
      <p:sp>
        <p:nvSpPr>
          <p:cNvPr id="5" name="TextBox 4">
            <a:extLst>
              <a:ext uri="{FF2B5EF4-FFF2-40B4-BE49-F238E27FC236}">
                <a16:creationId xmlns:a16="http://schemas.microsoft.com/office/drawing/2014/main" id="{19333482-47EE-AA17-5502-160D25C46D62}"/>
              </a:ext>
            </a:extLst>
          </p:cNvPr>
          <p:cNvSpPr txBox="1"/>
          <p:nvPr/>
        </p:nvSpPr>
        <p:spPr>
          <a:xfrm>
            <a:off x="17830800" y="9833943"/>
            <a:ext cx="418704" cy="369332"/>
          </a:xfrm>
          <a:prstGeom prst="rect">
            <a:avLst/>
          </a:prstGeom>
          <a:noFill/>
        </p:spPr>
        <p:txBody>
          <a:bodyPr wrap="none" rtlCol="0">
            <a:spAutoFit/>
          </a:bodyPr>
          <a:lstStyle/>
          <a:p>
            <a:r>
              <a:rPr lang="en-US" dirty="0"/>
              <a:t>13</a:t>
            </a:r>
          </a:p>
        </p:txBody>
      </p:sp>
    </p:spTree>
    <p:extLst>
      <p:ext uri="{BB962C8B-B14F-4D97-AF65-F5344CB8AC3E}">
        <p14:creationId xmlns:p14="http://schemas.microsoft.com/office/powerpoint/2010/main" val="20625281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D78CC-8BC7-16D9-03E4-B99D2875A8B5}"/>
            </a:ext>
          </a:extLst>
        </p:cNvPr>
        <p:cNvGrpSpPr/>
        <p:nvPr/>
      </p:nvGrpSpPr>
      <p:grpSpPr>
        <a:xfrm>
          <a:off x="0" y="0"/>
          <a:ext cx="0" cy="0"/>
          <a:chOff x="0" y="0"/>
          <a:chExt cx="0" cy="0"/>
        </a:xfrm>
      </p:grpSpPr>
      <p:sp>
        <p:nvSpPr>
          <p:cNvPr id="47" name="TextBox 10">
            <a:extLst>
              <a:ext uri="{FF2B5EF4-FFF2-40B4-BE49-F238E27FC236}">
                <a16:creationId xmlns:a16="http://schemas.microsoft.com/office/drawing/2014/main" id="{226CF658-1C3B-491C-A009-CADC908C2982}"/>
              </a:ext>
            </a:extLst>
          </p:cNvPr>
          <p:cNvSpPr txBox="1"/>
          <p:nvPr/>
        </p:nvSpPr>
        <p:spPr>
          <a:xfrm>
            <a:off x="1066800" y="968773"/>
            <a:ext cx="16154400" cy="936218"/>
          </a:xfrm>
          <a:prstGeom prst="rect">
            <a:avLst/>
          </a:prstGeom>
        </p:spPr>
        <p:txBody>
          <a:bodyPr wrap="square"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Least Ordered Meals</a:t>
            </a:r>
          </a:p>
        </p:txBody>
      </p:sp>
      <p:sp>
        <p:nvSpPr>
          <p:cNvPr id="48" name="TextBox 20">
            <a:extLst>
              <a:ext uri="{FF2B5EF4-FFF2-40B4-BE49-F238E27FC236}">
                <a16:creationId xmlns:a16="http://schemas.microsoft.com/office/drawing/2014/main" id="{FA34801A-6D36-0B9F-CDC8-4C7DA37BCFE8}"/>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49" name="TextBox 5">
            <a:extLst>
              <a:ext uri="{FF2B5EF4-FFF2-40B4-BE49-F238E27FC236}">
                <a16:creationId xmlns:a16="http://schemas.microsoft.com/office/drawing/2014/main" id="{9940FC59-5C6F-9AB5-A549-6B395121F06E}"/>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
        <p:nvSpPr>
          <p:cNvPr id="3" name="TextBox 7">
            <a:extLst>
              <a:ext uri="{FF2B5EF4-FFF2-40B4-BE49-F238E27FC236}">
                <a16:creationId xmlns:a16="http://schemas.microsoft.com/office/drawing/2014/main" id="{C228EC34-4F47-835F-9668-6E93FDDF4B0F}"/>
              </a:ext>
            </a:extLst>
          </p:cNvPr>
          <p:cNvSpPr txBox="1"/>
          <p:nvPr/>
        </p:nvSpPr>
        <p:spPr>
          <a:xfrm>
            <a:off x="7146477" y="2044938"/>
            <a:ext cx="3995045" cy="548355"/>
          </a:xfrm>
          <a:prstGeom prst="rect">
            <a:avLst/>
          </a:prstGeom>
        </p:spPr>
        <p:txBody>
          <a:bodyPr wrap="square" lIns="0" tIns="0" rIns="0" bIns="0" rtlCol="0" anchor="t">
            <a:spAutoFit/>
          </a:bodyPr>
          <a:lstStyle/>
          <a:p>
            <a:pPr algn="ctr">
              <a:lnSpc>
                <a:spcPts val="4480"/>
              </a:lnSpc>
            </a:pPr>
            <a:r>
              <a:rPr lang="en-US" sz="3200" b="1" dirty="0">
                <a:solidFill>
                  <a:srgbClr val="FC6233"/>
                </a:solidFill>
                <a:latin typeface="Times New Roman" panose="02020603050405020304" pitchFamily="18" charset="0"/>
                <a:ea typeface="Quattrocento Bold"/>
                <a:cs typeface="Times New Roman" panose="02020603050405020304" pitchFamily="18" charset="0"/>
                <a:sym typeface="Quattrocento Bold"/>
              </a:rPr>
              <a:t>Least Ordered Meals</a:t>
            </a:r>
          </a:p>
        </p:txBody>
      </p:sp>
      <p:pic>
        <p:nvPicPr>
          <p:cNvPr id="4" name="Picture 3" descr="A graph with blue lines and red lines&#10;&#10;Description automatically generated">
            <a:extLst>
              <a:ext uri="{FF2B5EF4-FFF2-40B4-BE49-F238E27FC236}">
                <a16:creationId xmlns:a16="http://schemas.microsoft.com/office/drawing/2014/main" id="{45155B8B-E946-1F7A-8AA0-F3130478821C}"/>
              </a:ext>
            </a:extLst>
          </p:cNvPr>
          <p:cNvPicPr>
            <a:picLocks noChangeAspect="1"/>
          </p:cNvPicPr>
          <p:nvPr/>
        </p:nvPicPr>
        <p:blipFill>
          <a:blip r:embed="rId2"/>
          <a:stretch>
            <a:fillRect/>
          </a:stretch>
        </p:blipFill>
        <p:spPr>
          <a:xfrm>
            <a:off x="6629400" y="2733240"/>
            <a:ext cx="11430000" cy="6497714"/>
          </a:xfrm>
          <a:prstGeom prst="rect">
            <a:avLst/>
          </a:prstGeom>
        </p:spPr>
      </p:pic>
      <p:sp>
        <p:nvSpPr>
          <p:cNvPr id="2" name="TextBox 7">
            <a:extLst>
              <a:ext uri="{FF2B5EF4-FFF2-40B4-BE49-F238E27FC236}">
                <a16:creationId xmlns:a16="http://schemas.microsoft.com/office/drawing/2014/main" id="{77440DC2-5CC8-C80B-2F6A-31FBFD7D0E88}"/>
              </a:ext>
            </a:extLst>
          </p:cNvPr>
          <p:cNvSpPr txBox="1"/>
          <p:nvPr/>
        </p:nvSpPr>
        <p:spPr>
          <a:xfrm>
            <a:off x="-15240" y="4700754"/>
            <a:ext cx="6644640" cy="2631490"/>
          </a:xfrm>
          <a:prstGeom prst="rect">
            <a:avLst/>
          </a:prstGeom>
        </p:spPr>
        <p:txBody>
          <a:bodyPr wrap="square" lIns="0" tIns="0" rIns="0" bIns="0" rtlCol="0" anchor="t">
            <a:spAutoFit/>
          </a:bodyPr>
          <a:lstStyle/>
          <a:p>
            <a:pPr marL="457200" indent="-228600">
              <a:spcBef>
                <a:spcPts val="600"/>
              </a:spcBef>
            </a:pPr>
            <a:r>
              <a:rPr lang="es-ES" sz="2600" b="1" dirty="0">
                <a:latin typeface="Times New Roman" panose="02020603050405020304" pitchFamily="18" charset="0"/>
                <a:ea typeface="Quattrocento Bold"/>
                <a:cs typeface="Times New Roman" panose="02020603050405020304" pitchFamily="18" charset="0"/>
                <a:sym typeface="Quattrocento Bold"/>
              </a:rPr>
              <a:t>•	Mean Absolute Error (MAE): </a:t>
            </a:r>
            <a:r>
              <a:rPr lang="es-ES" sz="2600" dirty="0">
                <a:latin typeface="Times New Roman" panose="02020603050405020304" pitchFamily="18" charset="0"/>
                <a:ea typeface="Quattrocento Bold"/>
                <a:cs typeface="Times New Roman" panose="02020603050405020304" pitchFamily="18" charset="0"/>
                <a:sym typeface="Quattrocento Bold"/>
              </a:rPr>
              <a:t>1577.578</a:t>
            </a:r>
          </a:p>
          <a:p>
            <a:pPr marL="457200" indent="-228600">
              <a:spcBef>
                <a:spcPts val="600"/>
              </a:spcBef>
            </a:pPr>
            <a:r>
              <a:rPr lang="en-US" sz="2600" dirty="0">
                <a:latin typeface="Times New Roman" panose="02020603050405020304" pitchFamily="18" charset="0"/>
                <a:ea typeface="Quattrocento Bold"/>
                <a:cs typeface="Times New Roman" panose="02020603050405020304" pitchFamily="18" charset="0"/>
                <a:sym typeface="Quattrocento Bold"/>
              </a:rPr>
              <a:t>•	</a:t>
            </a:r>
            <a:r>
              <a:rPr lang="en-US" sz="2600" b="1" dirty="0">
                <a:latin typeface="Times New Roman" panose="02020603050405020304" pitchFamily="18" charset="0"/>
                <a:ea typeface="Quattrocento Bold"/>
                <a:cs typeface="Times New Roman" panose="02020603050405020304" pitchFamily="18" charset="0"/>
                <a:sym typeface="Quattrocento Bold"/>
              </a:rPr>
              <a:t>Mean Squared Error (MSE): </a:t>
            </a:r>
            <a:r>
              <a:rPr lang="en-US" sz="2600" dirty="0">
                <a:latin typeface="Times New Roman" panose="02020603050405020304" pitchFamily="18" charset="0"/>
                <a:ea typeface="Quattrocento Bold"/>
                <a:cs typeface="Times New Roman" panose="02020603050405020304" pitchFamily="18" charset="0"/>
                <a:sym typeface="Quattrocento Bold"/>
              </a:rPr>
              <a:t>5,163,489</a:t>
            </a:r>
          </a:p>
          <a:p>
            <a:pPr marL="457200" indent="-228600">
              <a:spcBef>
                <a:spcPts val="600"/>
              </a:spcBef>
            </a:pPr>
            <a:r>
              <a:rPr lang="en-US" sz="2600" dirty="0">
                <a:latin typeface="Times New Roman" panose="02020603050405020304" pitchFamily="18" charset="0"/>
                <a:ea typeface="Quattrocento Bold"/>
                <a:cs typeface="Times New Roman" panose="02020603050405020304" pitchFamily="18" charset="0"/>
                <a:sym typeface="Quattrocento Bold"/>
              </a:rPr>
              <a:t>•	</a:t>
            </a:r>
            <a:r>
              <a:rPr lang="en-US" sz="2600" b="1" dirty="0">
                <a:latin typeface="Times New Roman" panose="02020603050405020304" pitchFamily="18" charset="0"/>
                <a:ea typeface="Quattrocento Bold"/>
                <a:cs typeface="Times New Roman" panose="02020603050405020304" pitchFamily="18" charset="0"/>
                <a:sym typeface="Quattrocento Bold"/>
              </a:rPr>
              <a:t>Root Mean Squared Error (RMSE): </a:t>
            </a:r>
            <a:r>
              <a:rPr lang="en-US" sz="2600" dirty="0">
                <a:latin typeface="Times New Roman" panose="02020603050405020304" pitchFamily="18" charset="0"/>
                <a:ea typeface="Quattrocento Bold"/>
                <a:cs typeface="Times New Roman" panose="02020603050405020304" pitchFamily="18" charset="0"/>
                <a:sym typeface="Quattrocento Bold"/>
              </a:rPr>
              <a:t>2272.331</a:t>
            </a:r>
          </a:p>
          <a:p>
            <a:pPr marL="457200" indent="-228600">
              <a:spcBef>
                <a:spcPts val="600"/>
              </a:spcBef>
            </a:pPr>
            <a:r>
              <a:rPr lang="en-US" sz="2600" dirty="0">
                <a:latin typeface="Times New Roman" panose="02020603050405020304" pitchFamily="18" charset="0"/>
                <a:ea typeface="Quattrocento Bold"/>
                <a:cs typeface="Times New Roman" panose="02020603050405020304" pitchFamily="18" charset="0"/>
                <a:sym typeface="Quattrocento Bold"/>
              </a:rPr>
              <a:t>•	</a:t>
            </a:r>
            <a:r>
              <a:rPr lang="en-US" sz="2600" b="1" dirty="0">
                <a:latin typeface="Times New Roman" panose="02020603050405020304" pitchFamily="18" charset="0"/>
                <a:ea typeface="Quattrocento Bold"/>
                <a:cs typeface="Times New Roman" panose="02020603050405020304" pitchFamily="18" charset="0"/>
                <a:sym typeface="Quattrocento Bold"/>
              </a:rPr>
              <a:t>Mean Absolute Percentage Error (MAPE): </a:t>
            </a:r>
            <a:r>
              <a:rPr lang="en-US" sz="2600" dirty="0">
                <a:latin typeface="Times New Roman" panose="02020603050405020304" pitchFamily="18" charset="0"/>
                <a:ea typeface="Quattrocento Bold"/>
                <a:cs typeface="Times New Roman" panose="02020603050405020304" pitchFamily="18" charset="0"/>
                <a:sym typeface="Quattrocento Bold"/>
              </a:rPr>
              <a:t>0.3090379%</a:t>
            </a:r>
          </a:p>
        </p:txBody>
      </p:sp>
      <p:sp>
        <p:nvSpPr>
          <p:cNvPr id="6" name="TextBox 5">
            <a:extLst>
              <a:ext uri="{FF2B5EF4-FFF2-40B4-BE49-F238E27FC236}">
                <a16:creationId xmlns:a16="http://schemas.microsoft.com/office/drawing/2014/main" id="{88462F58-4D23-8EF3-B9D6-DE3502A74855}"/>
              </a:ext>
            </a:extLst>
          </p:cNvPr>
          <p:cNvSpPr txBox="1"/>
          <p:nvPr/>
        </p:nvSpPr>
        <p:spPr>
          <a:xfrm>
            <a:off x="17830800" y="9833943"/>
            <a:ext cx="418704" cy="369332"/>
          </a:xfrm>
          <a:prstGeom prst="rect">
            <a:avLst/>
          </a:prstGeom>
          <a:noFill/>
        </p:spPr>
        <p:txBody>
          <a:bodyPr wrap="none" rtlCol="0">
            <a:spAutoFit/>
          </a:bodyPr>
          <a:lstStyle/>
          <a:p>
            <a:r>
              <a:rPr lang="en-US" dirty="0"/>
              <a:t>14</a:t>
            </a:r>
          </a:p>
        </p:txBody>
      </p:sp>
    </p:spTree>
    <p:extLst>
      <p:ext uri="{BB962C8B-B14F-4D97-AF65-F5344CB8AC3E}">
        <p14:creationId xmlns:p14="http://schemas.microsoft.com/office/powerpoint/2010/main" val="21563213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AF836-4D57-82D4-B7EC-3DB9399A6363}"/>
            </a:ext>
          </a:extLst>
        </p:cNvPr>
        <p:cNvGrpSpPr/>
        <p:nvPr/>
      </p:nvGrpSpPr>
      <p:grpSpPr>
        <a:xfrm>
          <a:off x="0" y="0"/>
          <a:ext cx="0" cy="0"/>
          <a:chOff x="0" y="0"/>
          <a:chExt cx="0" cy="0"/>
        </a:xfrm>
      </p:grpSpPr>
      <p:sp>
        <p:nvSpPr>
          <p:cNvPr id="47" name="TextBox 10">
            <a:extLst>
              <a:ext uri="{FF2B5EF4-FFF2-40B4-BE49-F238E27FC236}">
                <a16:creationId xmlns:a16="http://schemas.microsoft.com/office/drawing/2014/main" id="{B96EBC85-17D4-2A7D-A5A7-EFEED587A3B7}"/>
              </a:ext>
            </a:extLst>
          </p:cNvPr>
          <p:cNvSpPr txBox="1"/>
          <p:nvPr/>
        </p:nvSpPr>
        <p:spPr>
          <a:xfrm>
            <a:off x="1295400" y="968773"/>
            <a:ext cx="15697200" cy="936218"/>
          </a:xfrm>
          <a:prstGeom prst="rect">
            <a:avLst/>
          </a:prstGeom>
        </p:spPr>
        <p:txBody>
          <a:bodyPr wrap="square"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Most Ordered Meals</a:t>
            </a:r>
          </a:p>
        </p:txBody>
      </p:sp>
      <p:sp>
        <p:nvSpPr>
          <p:cNvPr id="48" name="TextBox 20">
            <a:extLst>
              <a:ext uri="{FF2B5EF4-FFF2-40B4-BE49-F238E27FC236}">
                <a16:creationId xmlns:a16="http://schemas.microsoft.com/office/drawing/2014/main" id="{3534F7BD-7876-0B23-E27E-C43013F8A2FC}"/>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49" name="TextBox 5">
            <a:extLst>
              <a:ext uri="{FF2B5EF4-FFF2-40B4-BE49-F238E27FC236}">
                <a16:creationId xmlns:a16="http://schemas.microsoft.com/office/drawing/2014/main" id="{FEDCB2B5-DD3D-15E0-FAA9-9161C96C20F8}"/>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pic>
        <p:nvPicPr>
          <p:cNvPr id="2" name="Picture 1">
            <a:extLst>
              <a:ext uri="{FF2B5EF4-FFF2-40B4-BE49-F238E27FC236}">
                <a16:creationId xmlns:a16="http://schemas.microsoft.com/office/drawing/2014/main" id="{9161DC1C-C7C2-4484-A4C6-1843ED37742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85800" y="2631414"/>
            <a:ext cx="16916400" cy="6524173"/>
          </a:xfrm>
          <a:prstGeom prst="rect">
            <a:avLst/>
          </a:prstGeom>
        </p:spPr>
      </p:pic>
      <p:sp>
        <p:nvSpPr>
          <p:cNvPr id="4" name="TextBox 7">
            <a:extLst>
              <a:ext uri="{FF2B5EF4-FFF2-40B4-BE49-F238E27FC236}">
                <a16:creationId xmlns:a16="http://schemas.microsoft.com/office/drawing/2014/main" id="{F82F5724-C43B-ED1B-8AA6-B5FCE19224A1}"/>
              </a:ext>
            </a:extLst>
          </p:cNvPr>
          <p:cNvSpPr txBox="1"/>
          <p:nvPr/>
        </p:nvSpPr>
        <p:spPr>
          <a:xfrm>
            <a:off x="7146477" y="1906087"/>
            <a:ext cx="3995045" cy="548355"/>
          </a:xfrm>
          <a:prstGeom prst="rect">
            <a:avLst/>
          </a:prstGeom>
        </p:spPr>
        <p:txBody>
          <a:bodyPr wrap="square" lIns="0" tIns="0" rIns="0" bIns="0" rtlCol="0" anchor="t">
            <a:spAutoFit/>
          </a:bodyPr>
          <a:lstStyle/>
          <a:p>
            <a:pPr algn="ctr">
              <a:lnSpc>
                <a:spcPts val="4480"/>
              </a:lnSpc>
            </a:pPr>
            <a:r>
              <a:rPr lang="en-US" sz="3200" b="1" dirty="0">
                <a:solidFill>
                  <a:srgbClr val="FC6233"/>
                </a:solidFill>
                <a:latin typeface="Times New Roman" panose="02020603050405020304" pitchFamily="18" charset="0"/>
                <a:ea typeface="Quattrocento Bold"/>
                <a:cs typeface="Times New Roman" panose="02020603050405020304" pitchFamily="18" charset="0"/>
                <a:sym typeface="Quattrocento Bold"/>
              </a:rPr>
              <a:t>Model Selection</a:t>
            </a:r>
          </a:p>
        </p:txBody>
      </p:sp>
      <p:sp>
        <p:nvSpPr>
          <p:cNvPr id="5" name="TextBox 4">
            <a:extLst>
              <a:ext uri="{FF2B5EF4-FFF2-40B4-BE49-F238E27FC236}">
                <a16:creationId xmlns:a16="http://schemas.microsoft.com/office/drawing/2014/main" id="{7449DB7C-723E-DD9F-555A-363492D138E6}"/>
              </a:ext>
            </a:extLst>
          </p:cNvPr>
          <p:cNvSpPr txBox="1"/>
          <p:nvPr/>
        </p:nvSpPr>
        <p:spPr>
          <a:xfrm>
            <a:off x="17830800" y="9833943"/>
            <a:ext cx="418704" cy="369332"/>
          </a:xfrm>
          <a:prstGeom prst="rect">
            <a:avLst/>
          </a:prstGeom>
          <a:noFill/>
        </p:spPr>
        <p:txBody>
          <a:bodyPr wrap="none" rtlCol="0">
            <a:spAutoFit/>
          </a:bodyPr>
          <a:lstStyle/>
          <a:p>
            <a:r>
              <a:rPr lang="en-US" dirty="0"/>
              <a:t>15</a:t>
            </a:r>
          </a:p>
        </p:txBody>
      </p:sp>
    </p:spTree>
    <p:extLst>
      <p:ext uri="{BB962C8B-B14F-4D97-AF65-F5344CB8AC3E}">
        <p14:creationId xmlns:p14="http://schemas.microsoft.com/office/powerpoint/2010/main" val="223440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CA86E0-E2EE-6517-03D3-EAA7FA87236C}"/>
            </a:ext>
          </a:extLst>
        </p:cNvPr>
        <p:cNvGrpSpPr/>
        <p:nvPr/>
      </p:nvGrpSpPr>
      <p:grpSpPr>
        <a:xfrm>
          <a:off x="0" y="0"/>
          <a:ext cx="0" cy="0"/>
          <a:chOff x="0" y="0"/>
          <a:chExt cx="0" cy="0"/>
        </a:xfrm>
      </p:grpSpPr>
      <p:sp>
        <p:nvSpPr>
          <p:cNvPr id="47" name="TextBox 10">
            <a:extLst>
              <a:ext uri="{FF2B5EF4-FFF2-40B4-BE49-F238E27FC236}">
                <a16:creationId xmlns:a16="http://schemas.microsoft.com/office/drawing/2014/main" id="{B81A2432-5AFF-CC75-2E03-10E1B84068C9}"/>
              </a:ext>
            </a:extLst>
          </p:cNvPr>
          <p:cNvSpPr txBox="1"/>
          <p:nvPr/>
        </p:nvSpPr>
        <p:spPr>
          <a:xfrm>
            <a:off x="2057400" y="968773"/>
            <a:ext cx="14173200" cy="936218"/>
          </a:xfrm>
          <a:prstGeom prst="rect">
            <a:avLst/>
          </a:prstGeom>
        </p:spPr>
        <p:txBody>
          <a:bodyPr wrap="square"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Most Ordered Meals</a:t>
            </a:r>
          </a:p>
        </p:txBody>
      </p:sp>
      <p:sp>
        <p:nvSpPr>
          <p:cNvPr id="48" name="TextBox 20">
            <a:extLst>
              <a:ext uri="{FF2B5EF4-FFF2-40B4-BE49-F238E27FC236}">
                <a16:creationId xmlns:a16="http://schemas.microsoft.com/office/drawing/2014/main" id="{08B0DD82-4C66-B20F-90D6-61001EEC19C0}"/>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49" name="TextBox 5">
            <a:extLst>
              <a:ext uri="{FF2B5EF4-FFF2-40B4-BE49-F238E27FC236}">
                <a16:creationId xmlns:a16="http://schemas.microsoft.com/office/drawing/2014/main" id="{F732CB9B-60B4-2BA3-DD11-2CB7FBDBD6E6}"/>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
        <p:nvSpPr>
          <p:cNvPr id="3" name="TextBox 7">
            <a:extLst>
              <a:ext uri="{FF2B5EF4-FFF2-40B4-BE49-F238E27FC236}">
                <a16:creationId xmlns:a16="http://schemas.microsoft.com/office/drawing/2014/main" id="{9417B551-4B73-AD8B-5BFE-FFC90647002D}"/>
              </a:ext>
            </a:extLst>
          </p:cNvPr>
          <p:cNvSpPr txBox="1"/>
          <p:nvPr/>
        </p:nvSpPr>
        <p:spPr>
          <a:xfrm>
            <a:off x="7146477" y="2044938"/>
            <a:ext cx="3995045" cy="548355"/>
          </a:xfrm>
          <a:prstGeom prst="rect">
            <a:avLst/>
          </a:prstGeom>
        </p:spPr>
        <p:txBody>
          <a:bodyPr wrap="square" lIns="0" tIns="0" rIns="0" bIns="0" rtlCol="0" anchor="t">
            <a:spAutoFit/>
          </a:bodyPr>
          <a:lstStyle/>
          <a:p>
            <a:pPr algn="ctr">
              <a:lnSpc>
                <a:spcPts val="4480"/>
              </a:lnSpc>
            </a:pPr>
            <a:r>
              <a:rPr lang="en-US" sz="3200" b="1" dirty="0">
                <a:solidFill>
                  <a:srgbClr val="FC6233"/>
                </a:solidFill>
                <a:latin typeface="Times New Roman" panose="02020603050405020304" pitchFamily="18" charset="0"/>
                <a:ea typeface="Quattrocento Bold"/>
                <a:cs typeface="Times New Roman" panose="02020603050405020304" pitchFamily="18" charset="0"/>
                <a:sym typeface="Quattrocento Bold"/>
              </a:rPr>
              <a:t>Result</a:t>
            </a:r>
          </a:p>
        </p:txBody>
      </p:sp>
      <p:pic>
        <p:nvPicPr>
          <p:cNvPr id="4" name="Picture 3">
            <a:extLst>
              <a:ext uri="{FF2B5EF4-FFF2-40B4-BE49-F238E27FC236}">
                <a16:creationId xmlns:a16="http://schemas.microsoft.com/office/drawing/2014/main" id="{BC8065E2-0C2F-57A7-C491-9D26255E2E7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9601200" y="2613217"/>
            <a:ext cx="8305800" cy="6497714"/>
          </a:xfrm>
          <a:prstGeom prst="rect">
            <a:avLst/>
          </a:prstGeom>
        </p:spPr>
      </p:pic>
      <p:sp>
        <p:nvSpPr>
          <p:cNvPr id="5" name="TextBox 4">
            <a:extLst>
              <a:ext uri="{FF2B5EF4-FFF2-40B4-BE49-F238E27FC236}">
                <a16:creationId xmlns:a16="http://schemas.microsoft.com/office/drawing/2014/main" id="{582577A6-EFBF-1DB7-2258-5CCC13F7A822}"/>
              </a:ext>
            </a:extLst>
          </p:cNvPr>
          <p:cNvSpPr txBox="1"/>
          <p:nvPr/>
        </p:nvSpPr>
        <p:spPr>
          <a:xfrm>
            <a:off x="454404" y="4686300"/>
            <a:ext cx="9144000" cy="2097947"/>
          </a:xfrm>
          <a:prstGeom prst="rect">
            <a:avLst/>
          </a:prstGeom>
          <a:noFill/>
        </p:spPr>
        <p:txBody>
          <a:bodyPr wrap="square">
            <a:spAutoFit/>
          </a:bodyPr>
          <a:lstStyle/>
          <a:p>
            <a:pPr marL="342900" lvl="0" indent="-342900">
              <a:lnSpc>
                <a:spcPct val="107000"/>
              </a:lnSpc>
              <a:spcAft>
                <a:spcPts val="800"/>
              </a:spcAft>
              <a:buSzPts val="1000"/>
              <a:buFont typeface="Symbol" panose="05050102010706020507" pitchFamily="18" charset="2"/>
              <a:buChar char=""/>
              <a:tabLst>
                <a:tab pos="685800" algn="l"/>
              </a:tabLst>
            </a:pPr>
            <a:r>
              <a:rPr lang="en-US" sz="2600" b="1" kern="100" dirty="0">
                <a:effectLst/>
                <a:latin typeface="Times New Roman" panose="02020603050405020304" pitchFamily="18" charset="0"/>
                <a:ea typeface="Aptos" panose="020B0004020202020204" pitchFamily="34" charset="0"/>
                <a:cs typeface="Times New Roman" panose="02020603050405020304" pitchFamily="18" charset="0"/>
              </a:rPr>
              <a:t>Mean Absolute Error (MAE)</a:t>
            </a:r>
            <a:r>
              <a:rPr lang="en-US" sz="2600" kern="100" dirty="0">
                <a:effectLst/>
                <a:latin typeface="Times New Roman" panose="02020603050405020304" pitchFamily="18" charset="0"/>
                <a:ea typeface="Aptos" panose="020B0004020202020204" pitchFamily="34" charset="0"/>
                <a:cs typeface="Times New Roman" panose="02020603050405020304" pitchFamily="18" charset="0"/>
              </a:rPr>
              <a:t>: 21,457.58</a:t>
            </a:r>
          </a:p>
          <a:p>
            <a:pPr marL="342900" lvl="0" indent="-342900">
              <a:lnSpc>
                <a:spcPct val="107000"/>
              </a:lnSpc>
              <a:spcAft>
                <a:spcPts val="800"/>
              </a:spcAft>
              <a:buSzPts val="1000"/>
              <a:buFont typeface="Symbol" panose="05050102010706020507" pitchFamily="18" charset="2"/>
              <a:buChar char=""/>
              <a:tabLst>
                <a:tab pos="685800" algn="l"/>
              </a:tabLst>
            </a:pPr>
            <a:r>
              <a:rPr lang="en-US" sz="2600" b="1" kern="100" dirty="0">
                <a:effectLst/>
                <a:latin typeface="Times New Roman" panose="02020603050405020304" pitchFamily="18" charset="0"/>
                <a:ea typeface="Aptos" panose="020B0004020202020204" pitchFamily="34" charset="0"/>
                <a:cs typeface="Times New Roman" panose="02020603050405020304" pitchFamily="18" charset="0"/>
              </a:rPr>
              <a:t>Mean Squared Error (MSE)</a:t>
            </a:r>
            <a:r>
              <a:rPr lang="en-US" sz="2600" kern="100" dirty="0">
                <a:effectLst/>
                <a:latin typeface="Times New Roman" panose="02020603050405020304" pitchFamily="18" charset="0"/>
                <a:ea typeface="Aptos" panose="020B0004020202020204" pitchFamily="34" charset="0"/>
                <a:cs typeface="Times New Roman" panose="02020603050405020304" pitchFamily="18" charset="0"/>
              </a:rPr>
              <a:t>: 1,374,095,461</a:t>
            </a:r>
          </a:p>
          <a:p>
            <a:pPr marL="342900" lvl="0" indent="-342900">
              <a:lnSpc>
                <a:spcPct val="107000"/>
              </a:lnSpc>
              <a:spcAft>
                <a:spcPts val="800"/>
              </a:spcAft>
              <a:buSzPts val="1000"/>
              <a:buFont typeface="Symbol" panose="05050102010706020507" pitchFamily="18" charset="2"/>
              <a:buChar char=""/>
              <a:tabLst>
                <a:tab pos="685800" algn="l"/>
              </a:tabLst>
            </a:pPr>
            <a:r>
              <a:rPr lang="en-US" sz="2600" b="1" kern="100" dirty="0">
                <a:effectLst/>
                <a:latin typeface="Times New Roman" panose="02020603050405020304" pitchFamily="18" charset="0"/>
                <a:ea typeface="Aptos" panose="020B0004020202020204" pitchFamily="34" charset="0"/>
                <a:cs typeface="Times New Roman" panose="02020603050405020304" pitchFamily="18" charset="0"/>
              </a:rPr>
              <a:t>Root Mean Squared Error (RMSE)</a:t>
            </a:r>
            <a:r>
              <a:rPr lang="en-US" sz="2600" kern="100" dirty="0">
                <a:effectLst/>
                <a:latin typeface="Times New Roman" panose="02020603050405020304" pitchFamily="18" charset="0"/>
                <a:ea typeface="Aptos" panose="020B0004020202020204" pitchFamily="34" charset="0"/>
                <a:cs typeface="Times New Roman" panose="02020603050405020304" pitchFamily="18" charset="0"/>
              </a:rPr>
              <a:t>: 37,068.79</a:t>
            </a:r>
          </a:p>
          <a:p>
            <a:pPr marL="342900" lvl="0" indent="-342900">
              <a:lnSpc>
                <a:spcPct val="107000"/>
              </a:lnSpc>
              <a:spcAft>
                <a:spcPts val="800"/>
              </a:spcAft>
              <a:buSzPts val="1000"/>
              <a:buFont typeface="Symbol" panose="05050102010706020507" pitchFamily="18" charset="2"/>
              <a:buChar char=""/>
              <a:tabLst>
                <a:tab pos="685800" algn="l"/>
              </a:tabLst>
            </a:pPr>
            <a:r>
              <a:rPr lang="en-US" sz="2600" b="1" kern="100" dirty="0">
                <a:effectLst/>
                <a:latin typeface="Times New Roman" panose="02020603050405020304" pitchFamily="18" charset="0"/>
                <a:ea typeface="Aptos" panose="020B0004020202020204" pitchFamily="34" charset="0"/>
                <a:cs typeface="Times New Roman" panose="02020603050405020304" pitchFamily="18" charset="0"/>
              </a:rPr>
              <a:t>Mean Absolute Percentage Error (MAPE)</a:t>
            </a:r>
            <a:r>
              <a:rPr lang="en-US" sz="2600" kern="100" dirty="0">
                <a:effectLst/>
                <a:latin typeface="Times New Roman" panose="02020603050405020304" pitchFamily="18" charset="0"/>
                <a:ea typeface="Aptos" panose="020B0004020202020204" pitchFamily="34" charset="0"/>
                <a:cs typeface="Times New Roman" panose="02020603050405020304" pitchFamily="18" charset="0"/>
              </a:rPr>
              <a:t>: 0.3421059%</a:t>
            </a:r>
          </a:p>
        </p:txBody>
      </p:sp>
      <p:sp>
        <p:nvSpPr>
          <p:cNvPr id="7" name="TextBox 6">
            <a:extLst>
              <a:ext uri="{FF2B5EF4-FFF2-40B4-BE49-F238E27FC236}">
                <a16:creationId xmlns:a16="http://schemas.microsoft.com/office/drawing/2014/main" id="{77247EDB-8FF7-64D7-8F5A-08D10D0701D1}"/>
              </a:ext>
            </a:extLst>
          </p:cNvPr>
          <p:cNvSpPr txBox="1"/>
          <p:nvPr/>
        </p:nvSpPr>
        <p:spPr>
          <a:xfrm>
            <a:off x="17830800" y="9833943"/>
            <a:ext cx="418704" cy="369332"/>
          </a:xfrm>
          <a:prstGeom prst="rect">
            <a:avLst/>
          </a:prstGeom>
          <a:noFill/>
        </p:spPr>
        <p:txBody>
          <a:bodyPr wrap="none" rtlCol="0">
            <a:spAutoFit/>
          </a:bodyPr>
          <a:lstStyle/>
          <a:p>
            <a:r>
              <a:rPr lang="en-US" dirty="0"/>
              <a:t>16</a:t>
            </a:r>
          </a:p>
        </p:txBody>
      </p:sp>
    </p:spTree>
    <p:extLst>
      <p:ext uri="{BB962C8B-B14F-4D97-AF65-F5344CB8AC3E}">
        <p14:creationId xmlns:p14="http://schemas.microsoft.com/office/powerpoint/2010/main" val="3483259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0CB6E-620B-512D-B9B3-E8A4CCFCC3CC}"/>
            </a:ext>
          </a:extLst>
        </p:cNvPr>
        <p:cNvGrpSpPr/>
        <p:nvPr/>
      </p:nvGrpSpPr>
      <p:grpSpPr>
        <a:xfrm>
          <a:off x="0" y="0"/>
          <a:ext cx="0" cy="0"/>
          <a:chOff x="0" y="0"/>
          <a:chExt cx="0" cy="0"/>
        </a:xfrm>
      </p:grpSpPr>
      <p:sp>
        <p:nvSpPr>
          <p:cNvPr id="5" name="TextBox 5">
            <a:extLst>
              <a:ext uri="{FF2B5EF4-FFF2-40B4-BE49-F238E27FC236}">
                <a16:creationId xmlns:a16="http://schemas.microsoft.com/office/drawing/2014/main" id="{290E3083-2B6A-2B82-395B-BE8C07CAEC78}"/>
              </a:ext>
            </a:extLst>
          </p:cNvPr>
          <p:cNvSpPr txBox="1"/>
          <p:nvPr/>
        </p:nvSpPr>
        <p:spPr>
          <a:xfrm>
            <a:off x="2895600" y="4648268"/>
            <a:ext cx="12496800" cy="990464"/>
          </a:xfrm>
          <a:prstGeom prst="rect">
            <a:avLst/>
          </a:prstGeom>
        </p:spPr>
        <p:txBody>
          <a:bodyPr wrap="square" lIns="0" tIns="0" rIns="0" bIns="0" rtlCol="0" anchor="t">
            <a:spAutoFit/>
          </a:bodyPr>
          <a:lstStyle/>
          <a:p>
            <a:pPr algn="ctr">
              <a:lnSpc>
                <a:spcPts val="7200"/>
              </a:lnSpc>
            </a:pPr>
            <a:r>
              <a:rPr lang="en-US" sz="8800" b="1" spc="288" dirty="0">
                <a:solidFill>
                  <a:srgbClr val="FC6233"/>
                </a:solidFill>
                <a:latin typeface="Times New Roman" panose="02020603050405020304" pitchFamily="18" charset="0"/>
                <a:ea typeface="Maragsa"/>
                <a:cs typeface="Times New Roman" panose="02020603050405020304" pitchFamily="18" charset="0"/>
                <a:sym typeface="Maragsa"/>
              </a:rPr>
              <a:t>Linear Regression</a:t>
            </a:r>
          </a:p>
        </p:txBody>
      </p:sp>
      <p:sp>
        <p:nvSpPr>
          <p:cNvPr id="14" name="TextBox 20">
            <a:extLst>
              <a:ext uri="{FF2B5EF4-FFF2-40B4-BE49-F238E27FC236}">
                <a16:creationId xmlns:a16="http://schemas.microsoft.com/office/drawing/2014/main" id="{0AC7728F-8C80-306F-EA02-3E98FA1CE358}"/>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15" name="TextBox 5">
            <a:extLst>
              <a:ext uri="{FF2B5EF4-FFF2-40B4-BE49-F238E27FC236}">
                <a16:creationId xmlns:a16="http://schemas.microsoft.com/office/drawing/2014/main" id="{FE2617F8-E0BC-F232-E47E-C30F24D27C4F}"/>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Tree>
    <p:extLst>
      <p:ext uri="{BB962C8B-B14F-4D97-AF65-F5344CB8AC3E}">
        <p14:creationId xmlns:p14="http://schemas.microsoft.com/office/powerpoint/2010/main" val="614716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EF35E-4E34-3F34-8372-F879356030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069C11-F09A-D8EF-373A-7879882440A8}"/>
              </a:ext>
            </a:extLst>
          </p:cNvPr>
          <p:cNvSpPr>
            <a:spLocks noGrp="1"/>
          </p:cNvSpPr>
          <p:nvPr>
            <p:ph type="ctrTitle"/>
          </p:nvPr>
        </p:nvSpPr>
        <p:spPr>
          <a:xfrm>
            <a:off x="2286000" y="1195906"/>
            <a:ext cx="13716000" cy="1303547"/>
          </a:xfrm>
        </p:spPr>
        <p:txBody>
          <a:bodyPr>
            <a:normAutofit fontScale="90000"/>
          </a:bodyPr>
          <a:lstStyle/>
          <a:p>
            <a:r>
              <a:rPr lang="en-US" sz="9000" kern="100" dirty="0">
                <a:solidFill>
                  <a:schemeClr val="accent1"/>
                </a:solidFill>
                <a:latin typeface="Times New Roman" panose="02020603050405020304" pitchFamily="18" charset="0"/>
                <a:ea typeface="Aptos" panose="020B0004020202020204" pitchFamily="34" charset="0"/>
                <a:cs typeface="Times New Roman" panose="02020603050405020304" pitchFamily="18" charset="0"/>
              </a:rPr>
              <a:t>LINEAR REGRESSION Model</a:t>
            </a:r>
            <a:endParaRPr lang="en-US" sz="9000" dirty="0">
              <a:solidFill>
                <a:schemeClr val="accent1"/>
              </a:solidFill>
              <a:latin typeface="Times New Roman" panose="02020603050405020304" pitchFamily="18" charset="0"/>
              <a:cs typeface="Times New Roman" panose="02020603050405020304" pitchFamily="18" charset="0"/>
            </a:endParaRPr>
          </a:p>
        </p:txBody>
      </p:sp>
      <p:sp>
        <p:nvSpPr>
          <p:cNvPr id="5" name="Title 1">
            <a:extLst>
              <a:ext uri="{FF2B5EF4-FFF2-40B4-BE49-F238E27FC236}">
                <a16:creationId xmlns:a16="http://schemas.microsoft.com/office/drawing/2014/main" id="{223ECB8D-08CB-CF77-ED92-2E633E8748B8}"/>
              </a:ext>
            </a:extLst>
          </p:cNvPr>
          <p:cNvSpPr txBox="1">
            <a:spLocks/>
          </p:cNvSpPr>
          <p:nvPr/>
        </p:nvSpPr>
        <p:spPr>
          <a:xfrm>
            <a:off x="2286000" y="192052"/>
            <a:ext cx="13716000" cy="545795"/>
          </a:xfrm>
          <a:prstGeom prst="rect">
            <a:avLst/>
          </a:prstGeom>
        </p:spPr>
        <p:txBody>
          <a:bodyPr vert="horz" lIns="137160" tIns="68580" rIns="137160" bIns="6858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250" kern="100" dirty="0">
                <a:solidFill>
                  <a:schemeClr val="accent6"/>
                </a:solidFill>
                <a:latin typeface="Times New Roman" panose="02020603050405020304" pitchFamily="18" charset="0"/>
                <a:ea typeface="Aptos" panose="020B0004020202020204" pitchFamily="34" charset="0"/>
                <a:cs typeface="Times New Roman" panose="02020603050405020304" pitchFamily="18" charset="0"/>
              </a:rPr>
              <a:t>Demand Forecasting in the Food Delivery Industry</a:t>
            </a:r>
            <a:endParaRPr lang="en-US" sz="2250" dirty="0">
              <a:solidFill>
                <a:schemeClr val="accent6"/>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EDBA11BC-DF1B-A404-246B-94AC16211A12}"/>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9378315" y="2246926"/>
            <a:ext cx="8909685" cy="7329488"/>
          </a:xfrm>
          <a:prstGeom prst="rect">
            <a:avLst/>
          </a:prstGeom>
          <a:noFill/>
          <a:ln>
            <a:noFill/>
          </a:ln>
        </p:spPr>
      </p:pic>
      <p:sp>
        <p:nvSpPr>
          <p:cNvPr id="7" name="Title 1">
            <a:extLst>
              <a:ext uri="{FF2B5EF4-FFF2-40B4-BE49-F238E27FC236}">
                <a16:creationId xmlns:a16="http://schemas.microsoft.com/office/drawing/2014/main" id="{A44911D8-D08B-E843-E7DF-089D18EBD9BA}"/>
              </a:ext>
            </a:extLst>
          </p:cNvPr>
          <p:cNvSpPr txBox="1">
            <a:spLocks/>
          </p:cNvSpPr>
          <p:nvPr/>
        </p:nvSpPr>
        <p:spPr>
          <a:xfrm>
            <a:off x="2286000" y="9549155"/>
            <a:ext cx="13716000" cy="545795"/>
          </a:xfrm>
          <a:prstGeom prst="rect">
            <a:avLst/>
          </a:prstGeom>
        </p:spPr>
        <p:txBody>
          <a:bodyPr vert="horz" lIns="137160" tIns="68580" rIns="137160" bIns="6858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250" kern="100" dirty="0">
                <a:solidFill>
                  <a:schemeClr val="accent6"/>
                </a:solidFill>
                <a:latin typeface="Times New Roman" panose="02020603050405020304" pitchFamily="18" charset="0"/>
                <a:ea typeface="Aptos" panose="020B0004020202020204" pitchFamily="34" charset="0"/>
                <a:cs typeface="Times New Roman" panose="02020603050405020304" pitchFamily="18" charset="0"/>
              </a:rPr>
              <a:t>UNIVERSITY OF INFORMATION TEHCHNOLOGY</a:t>
            </a:r>
            <a:endParaRPr lang="en-US" sz="2250" dirty="0">
              <a:solidFill>
                <a:schemeClr val="accent6"/>
              </a:solidFill>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A16B6A5A-F0FF-6200-4424-DB0973367F60}"/>
              </a:ext>
            </a:extLst>
          </p:cNvPr>
          <p:cNvSpPr txBox="1"/>
          <p:nvPr/>
        </p:nvSpPr>
        <p:spPr>
          <a:xfrm>
            <a:off x="914400" y="4314892"/>
            <a:ext cx="9142623" cy="2967607"/>
          </a:xfrm>
          <a:prstGeom prst="rect">
            <a:avLst/>
          </a:prstGeom>
          <a:noFill/>
        </p:spPr>
        <p:txBody>
          <a:bodyPr wrap="square">
            <a:spAutoFit/>
          </a:bodyPr>
          <a:lstStyle/>
          <a:p>
            <a:pPr>
              <a:lnSpc>
                <a:spcPct val="107000"/>
              </a:lnSpc>
              <a:spcAft>
                <a:spcPts val="1200"/>
              </a:spcAft>
              <a:buSzPts val="1000"/>
              <a:tabLst>
                <a:tab pos="685800" algn="l"/>
              </a:tabLst>
            </a:pPr>
            <a:r>
              <a:rPr lang="en-US" sz="2250" b="1" kern="100" dirty="0">
                <a:latin typeface="Times New Roman" panose="02020603050405020304" pitchFamily="18" charset="0"/>
                <a:ea typeface="Aptos" panose="020B0004020202020204" pitchFamily="34" charset="0"/>
                <a:cs typeface="Times New Roman" panose="02020603050405020304" pitchFamily="18" charset="0"/>
              </a:rPr>
              <a:t>Evaluation Metrics</a:t>
            </a:r>
            <a:r>
              <a:rPr lang="en-US" sz="2250" kern="100" dirty="0">
                <a:latin typeface="Times New Roman" panose="02020603050405020304" pitchFamily="18" charset="0"/>
                <a:ea typeface="Aptos" panose="020B0004020202020204" pitchFamily="34" charset="0"/>
                <a:cs typeface="Times New Roman" panose="02020603050405020304" pitchFamily="18" charset="0"/>
              </a:rPr>
              <a:t>:</a:t>
            </a:r>
          </a:p>
          <a:p>
            <a:pPr lvl="1">
              <a:lnSpc>
                <a:spcPct val="107000"/>
              </a:lnSpc>
              <a:spcAft>
                <a:spcPts val="1200"/>
              </a:spcAft>
              <a:buSzPts val="1000"/>
              <a:tabLst>
                <a:tab pos="1371600" algn="l"/>
              </a:tabLst>
            </a:pPr>
            <a:r>
              <a:rPr lang="en-US" sz="2250" b="1" kern="100" dirty="0">
                <a:latin typeface="Times New Roman" panose="02020603050405020304" pitchFamily="18" charset="0"/>
                <a:ea typeface="Aptos" panose="020B0004020202020204" pitchFamily="34" charset="0"/>
                <a:cs typeface="Times New Roman" panose="02020603050405020304" pitchFamily="18" charset="0"/>
              </a:rPr>
              <a:t>Mean Absolute Error (MAE)</a:t>
            </a:r>
            <a:r>
              <a:rPr lang="en-US" sz="2250" kern="100" dirty="0">
                <a:latin typeface="Times New Roman" panose="02020603050405020304" pitchFamily="18" charset="0"/>
                <a:ea typeface="Aptos" panose="020B0004020202020204" pitchFamily="34" charset="0"/>
                <a:cs typeface="Times New Roman" panose="02020603050405020304" pitchFamily="18" charset="0"/>
              </a:rPr>
              <a:t>: 1040.47</a:t>
            </a:r>
          </a:p>
          <a:p>
            <a:pPr lvl="1">
              <a:lnSpc>
                <a:spcPct val="107000"/>
              </a:lnSpc>
              <a:spcAft>
                <a:spcPts val="1200"/>
              </a:spcAft>
              <a:buSzPts val="1000"/>
              <a:tabLst>
                <a:tab pos="1371600" algn="l"/>
              </a:tabLst>
            </a:pPr>
            <a:r>
              <a:rPr lang="en-US" sz="2250" b="1" kern="100" dirty="0">
                <a:latin typeface="Times New Roman" panose="02020603050405020304" pitchFamily="18" charset="0"/>
                <a:ea typeface="Aptos" panose="020B0004020202020204" pitchFamily="34" charset="0"/>
                <a:cs typeface="Times New Roman" panose="02020603050405020304" pitchFamily="18" charset="0"/>
              </a:rPr>
              <a:t>Mean Squared Error (MSE)</a:t>
            </a:r>
            <a:r>
              <a:rPr lang="en-US" sz="2250" kern="100" dirty="0">
                <a:latin typeface="Times New Roman" panose="02020603050405020304" pitchFamily="18" charset="0"/>
                <a:ea typeface="Aptos" panose="020B0004020202020204" pitchFamily="34" charset="0"/>
                <a:cs typeface="Times New Roman" panose="02020603050405020304" pitchFamily="18" charset="0"/>
              </a:rPr>
              <a:t>: 3909266.761063598</a:t>
            </a:r>
          </a:p>
          <a:p>
            <a:pPr lvl="1">
              <a:lnSpc>
                <a:spcPct val="107000"/>
              </a:lnSpc>
              <a:spcAft>
                <a:spcPts val="1200"/>
              </a:spcAft>
              <a:buSzPts val="1000"/>
              <a:tabLst>
                <a:tab pos="1371600" algn="l"/>
              </a:tabLst>
            </a:pPr>
            <a:r>
              <a:rPr lang="en-US" sz="2250" b="1" kern="100" dirty="0">
                <a:latin typeface="Times New Roman" panose="02020603050405020304" pitchFamily="18" charset="0"/>
                <a:ea typeface="Aptos" panose="020B0004020202020204" pitchFamily="34" charset="0"/>
                <a:cs typeface="Times New Roman" panose="02020603050405020304" pitchFamily="18" charset="0"/>
              </a:rPr>
              <a:t>Root Mean Squared Error (RMSE)</a:t>
            </a:r>
            <a:r>
              <a:rPr lang="en-US" sz="2250" kern="100" dirty="0">
                <a:latin typeface="Times New Roman" panose="02020603050405020304" pitchFamily="18" charset="0"/>
                <a:ea typeface="Aptos" panose="020B0004020202020204" pitchFamily="34" charset="0"/>
                <a:cs typeface="Times New Roman" panose="02020603050405020304" pitchFamily="18" charset="0"/>
              </a:rPr>
              <a:t>: 1977.19</a:t>
            </a:r>
          </a:p>
          <a:p>
            <a:pPr lvl="1">
              <a:lnSpc>
                <a:spcPct val="107000"/>
              </a:lnSpc>
              <a:spcAft>
                <a:spcPts val="1200"/>
              </a:spcAft>
              <a:buSzPts val="1000"/>
              <a:tabLst>
                <a:tab pos="1371600" algn="l"/>
              </a:tabLst>
            </a:pPr>
            <a:r>
              <a:rPr lang="en-US" sz="2250" b="1" kern="100" dirty="0">
                <a:latin typeface="Times New Roman" panose="02020603050405020304" pitchFamily="18" charset="0"/>
                <a:ea typeface="Aptos" panose="020B0004020202020204" pitchFamily="34" charset="0"/>
                <a:cs typeface="Times New Roman" panose="02020603050405020304" pitchFamily="18" charset="0"/>
              </a:rPr>
              <a:t>R² (R-Squared)</a:t>
            </a:r>
            <a:r>
              <a:rPr lang="en-US" sz="2250" kern="100" dirty="0">
                <a:latin typeface="Times New Roman" panose="02020603050405020304" pitchFamily="18" charset="0"/>
                <a:ea typeface="Aptos" panose="020B0004020202020204" pitchFamily="34" charset="0"/>
                <a:cs typeface="Times New Roman" panose="02020603050405020304" pitchFamily="18" charset="0"/>
              </a:rPr>
              <a:t>: 0.0863</a:t>
            </a:r>
          </a:p>
          <a:p>
            <a:pPr>
              <a:lnSpc>
                <a:spcPct val="107000"/>
              </a:lnSpc>
              <a:spcAft>
                <a:spcPts val="1200"/>
              </a:spcAft>
              <a:buSzPts val="1000"/>
              <a:tabLst>
                <a:tab pos="685800" algn="l"/>
              </a:tabLst>
            </a:pPr>
            <a:endParaRPr lang="en-US" sz="1650" kern="100" dirty="0">
              <a:solidFill>
                <a:srgbClr val="156082"/>
              </a:solidFill>
              <a:latin typeface="Times New Roman" panose="02020603050405020304" pitchFamily="18" charset="0"/>
              <a:ea typeface="Aptos" panose="020B000402020202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CA5CE795-F06E-BBBA-F1B1-479FC8F35158}"/>
              </a:ext>
            </a:extLst>
          </p:cNvPr>
          <p:cNvSpPr txBox="1"/>
          <p:nvPr/>
        </p:nvSpPr>
        <p:spPr>
          <a:xfrm>
            <a:off x="17830800" y="9833943"/>
            <a:ext cx="418704" cy="369332"/>
          </a:xfrm>
          <a:prstGeom prst="rect">
            <a:avLst/>
          </a:prstGeom>
          <a:noFill/>
        </p:spPr>
        <p:txBody>
          <a:bodyPr wrap="none" rtlCol="0">
            <a:spAutoFit/>
          </a:bodyPr>
          <a:lstStyle/>
          <a:p>
            <a:r>
              <a:rPr lang="en-US" dirty="0"/>
              <a:t>18</a:t>
            </a:r>
          </a:p>
        </p:txBody>
      </p:sp>
    </p:spTree>
    <p:extLst>
      <p:ext uri="{BB962C8B-B14F-4D97-AF65-F5344CB8AC3E}">
        <p14:creationId xmlns:p14="http://schemas.microsoft.com/office/powerpoint/2010/main" val="26041047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EC917-44B6-F703-9743-AEF700C45F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A724ED-AD12-16D2-6057-F0E540ED7C94}"/>
              </a:ext>
            </a:extLst>
          </p:cNvPr>
          <p:cNvSpPr>
            <a:spLocks noGrp="1"/>
          </p:cNvSpPr>
          <p:nvPr>
            <p:ph type="ctrTitle"/>
          </p:nvPr>
        </p:nvSpPr>
        <p:spPr>
          <a:xfrm>
            <a:off x="2286000" y="1195906"/>
            <a:ext cx="13716000" cy="1303547"/>
          </a:xfrm>
        </p:spPr>
        <p:txBody>
          <a:bodyPr>
            <a:normAutofit fontScale="90000"/>
          </a:bodyPr>
          <a:lstStyle/>
          <a:p>
            <a:r>
              <a:rPr lang="en-US" sz="9000" kern="100" dirty="0">
                <a:solidFill>
                  <a:schemeClr val="accent1"/>
                </a:solidFill>
                <a:latin typeface="Times New Roman" panose="02020603050405020304" pitchFamily="18" charset="0"/>
                <a:ea typeface="Aptos" panose="020B0004020202020204" pitchFamily="34" charset="0"/>
                <a:cs typeface="Times New Roman" panose="02020603050405020304" pitchFamily="18" charset="0"/>
              </a:rPr>
              <a:t>LINEAR REGRESSION Model</a:t>
            </a:r>
            <a:endParaRPr lang="en-US" sz="9000" dirty="0">
              <a:solidFill>
                <a:schemeClr val="accent1"/>
              </a:solidFill>
              <a:latin typeface="Times New Roman" panose="02020603050405020304" pitchFamily="18" charset="0"/>
              <a:cs typeface="Times New Roman" panose="02020603050405020304" pitchFamily="18" charset="0"/>
            </a:endParaRPr>
          </a:p>
        </p:txBody>
      </p:sp>
      <p:sp>
        <p:nvSpPr>
          <p:cNvPr id="5" name="Title 1">
            <a:extLst>
              <a:ext uri="{FF2B5EF4-FFF2-40B4-BE49-F238E27FC236}">
                <a16:creationId xmlns:a16="http://schemas.microsoft.com/office/drawing/2014/main" id="{AE71019C-9BE5-0B33-C548-E12ECF9EC1D7}"/>
              </a:ext>
            </a:extLst>
          </p:cNvPr>
          <p:cNvSpPr txBox="1">
            <a:spLocks/>
          </p:cNvSpPr>
          <p:nvPr/>
        </p:nvSpPr>
        <p:spPr>
          <a:xfrm>
            <a:off x="2286000" y="192052"/>
            <a:ext cx="13716000" cy="545795"/>
          </a:xfrm>
          <a:prstGeom prst="rect">
            <a:avLst/>
          </a:prstGeom>
        </p:spPr>
        <p:txBody>
          <a:bodyPr vert="horz" lIns="137160" tIns="68580" rIns="137160" bIns="6858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250" kern="100" dirty="0">
                <a:solidFill>
                  <a:schemeClr val="accent6"/>
                </a:solidFill>
                <a:latin typeface="Times New Roman" panose="02020603050405020304" pitchFamily="18" charset="0"/>
                <a:ea typeface="Aptos" panose="020B0004020202020204" pitchFamily="34" charset="0"/>
                <a:cs typeface="Times New Roman" panose="02020603050405020304" pitchFamily="18" charset="0"/>
              </a:rPr>
              <a:t>Demand Forecasting in the Food Delivery Industry</a:t>
            </a:r>
            <a:endParaRPr lang="en-US" sz="2250" dirty="0">
              <a:solidFill>
                <a:schemeClr val="accent6"/>
              </a:solidFill>
              <a:latin typeface="Times New Roman" panose="02020603050405020304" pitchFamily="18" charset="0"/>
              <a:cs typeface="Times New Roman" panose="02020603050405020304" pitchFamily="18" charset="0"/>
            </a:endParaRPr>
          </a:p>
        </p:txBody>
      </p:sp>
      <p:sp>
        <p:nvSpPr>
          <p:cNvPr id="7" name="Title 1">
            <a:extLst>
              <a:ext uri="{FF2B5EF4-FFF2-40B4-BE49-F238E27FC236}">
                <a16:creationId xmlns:a16="http://schemas.microsoft.com/office/drawing/2014/main" id="{406B87F7-C5C3-F34D-60BD-55BFC610E03F}"/>
              </a:ext>
            </a:extLst>
          </p:cNvPr>
          <p:cNvSpPr txBox="1">
            <a:spLocks/>
          </p:cNvSpPr>
          <p:nvPr/>
        </p:nvSpPr>
        <p:spPr>
          <a:xfrm>
            <a:off x="2286000" y="9549155"/>
            <a:ext cx="13716000" cy="545795"/>
          </a:xfrm>
          <a:prstGeom prst="rect">
            <a:avLst/>
          </a:prstGeom>
        </p:spPr>
        <p:txBody>
          <a:bodyPr vert="horz" lIns="137160" tIns="68580" rIns="137160" bIns="6858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250" kern="100" dirty="0">
                <a:solidFill>
                  <a:schemeClr val="accent6"/>
                </a:solidFill>
                <a:latin typeface="Times New Roman" panose="02020603050405020304" pitchFamily="18" charset="0"/>
                <a:ea typeface="Aptos" panose="020B0004020202020204" pitchFamily="34" charset="0"/>
                <a:cs typeface="Times New Roman" panose="02020603050405020304" pitchFamily="18" charset="0"/>
              </a:rPr>
              <a:t>UNIVERSITY OF INFORMATION TEHCHNOLOGY</a:t>
            </a:r>
            <a:endParaRPr lang="en-US" sz="2250" dirty="0">
              <a:solidFill>
                <a:schemeClr val="accent6"/>
              </a:solidFill>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9DB6D22F-72B0-2587-F5CF-C1BD70D6C685}"/>
              </a:ext>
            </a:extLst>
          </p:cNvPr>
          <p:cNvSpPr txBox="1"/>
          <p:nvPr/>
        </p:nvSpPr>
        <p:spPr>
          <a:xfrm>
            <a:off x="990600" y="4229100"/>
            <a:ext cx="9142623" cy="2535309"/>
          </a:xfrm>
          <a:prstGeom prst="rect">
            <a:avLst/>
          </a:prstGeom>
          <a:noFill/>
        </p:spPr>
        <p:txBody>
          <a:bodyPr wrap="square">
            <a:spAutoFit/>
          </a:bodyPr>
          <a:lstStyle/>
          <a:p>
            <a:pPr>
              <a:lnSpc>
                <a:spcPct val="107000"/>
              </a:lnSpc>
              <a:spcAft>
                <a:spcPts val="1200"/>
              </a:spcAft>
              <a:buSzPts val="1000"/>
              <a:tabLst>
                <a:tab pos="685800" algn="l"/>
              </a:tabLst>
            </a:pPr>
            <a:r>
              <a:rPr lang="en-US" sz="2250" b="1" kern="100" dirty="0">
                <a:latin typeface="Times New Roman" panose="02020603050405020304" pitchFamily="18" charset="0"/>
                <a:ea typeface="Aptos" panose="020B0004020202020204" pitchFamily="34" charset="0"/>
                <a:cs typeface="Times New Roman" panose="02020603050405020304" pitchFamily="18" charset="0"/>
              </a:rPr>
              <a:t>Evaluation Metrics</a:t>
            </a:r>
            <a:r>
              <a:rPr lang="en-US" sz="2250" kern="100" dirty="0">
                <a:latin typeface="Times New Roman" panose="02020603050405020304" pitchFamily="18" charset="0"/>
                <a:ea typeface="Aptos" panose="020B0004020202020204" pitchFamily="34" charset="0"/>
                <a:cs typeface="Times New Roman" panose="02020603050405020304" pitchFamily="18" charset="0"/>
              </a:rPr>
              <a:t>:</a:t>
            </a:r>
          </a:p>
          <a:p>
            <a:pPr lvl="1">
              <a:lnSpc>
                <a:spcPct val="107000"/>
              </a:lnSpc>
              <a:spcAft>
                <a:spcPts val="1200"/>
              </a:spcAft>
              <a:buSzPts val="1000"/>
              <a:tabLst>
                <a:tab pos="1371600" algn="l"/>
              </a:tabLst>
            </a:pPr>
            <a:r>
              <a:rPr lang="en-US" sz="2250" b="1" kern="100" dirty="0">
                <a:latin typeface="Times New Roman" panose="02020603050405020304" pitchFamily="18" charset="0"/>
                <a:ea typeface="Aptos" panose="020B0004020202020204" pitchFamily="34" charset="0"/>
                <a:cs typeface="Times New Roman" panose="02020603050405020304" pitchFamily="18" charset="0"/>
              </a:rPr>
              <a:t>Mean Absolute Error (MAE)</a:t>
            </a:r>
            <a:r>
              <a:rPr lang="en-US" sz="2250" kern="100" dirty="0">
                <a:latin typeface="Times New Roman" panose="02020603050405020304" pitchFamily="18" charset="0"/>
                <a:ea typeface="Aptos" panose="020B0004020202020204" pitchFamily="34" charset="0"/>
                <a:cs typeface="Times New Roman" panose="02020603050405020304" pitchFamily="18" charset="0"/>
              </a:rPr>
              <a:t>: 15991.83</a:t>
            </a:r>
          </a:p>
          <a:p>
            <a:pPr lvl="1">
              <a:lnSpc>
                <a:spcPct val="107000"/>
              </a:lnSpc>
              <a:spcAft>
                <a:spcPts val="1200"/>
              </a:spcAft>
              <a:buSzPts val="1000"/>
              <a:tabLst>
                <a:tab pos="1371600" algn="l"/>
              </a:tabLst>
            </a:pPr>
            <a:r>
              <a:rPr lang="en-US" sz="2250" b="1" kern="100" dirty="0">
                <a:latin typeface="Times New Roman" panose="02020603050405020304" pitchFamily="18" charset="0"/>
                <a:ea typeface="Aptos" panose="020B0004020202020204" pitchFamily="34" charset="0"/>
                <a:cs typeface="Times New Roman" panose="02020603050405020304" pitchFamily="18" charset="0"/>
              </a:rPr>
              <a:t>Mean Squared Error (MSE)</a:t>
            </a:r>
            <a:r>
              <a:rPr lang="en-US" sz="2250" kern="100" dirty="0">
                <a:latin typeface="Times New Roman" panose="02020603050405020304" pitchFamily="18" charset="0"/>
                <a:ea typeface="Aptos" panose="020B0004020202020204" pitchFamily="34" charset="0"/>
                <a:cs typeface="Times New Roman" panose="02020603050405020304" pitchFamily="18" charset="0"/>
              </a:rPr>
              <a:t>: 2042522053.49</a:t>
            </a:r>
          </a:p>
          <a:p>
            <a:pPr lvl="1">
              <a:lnSpc>
                <a:spcPct val="107000"/>
              </a:lnSpc>
              <a:spcAft>
                <a:spcPts val="1200"/>
              </a:spcAft>
              <a:buSzPts val="1000"/>
              <a:tabLst>
                <a:tab pos="1371600" algn="l"/>
              </a:tabLst>
            </a:pPr>
            <a:r>
              <a:rPr lang="en-US" sz="2250" b="1" kern="100" dirty="0">
                <a:latin typeface="Times New Roman" panose="02020603050405020304" pitchFamily="18" charset="0"/>
                <a:ea typeface="Aptos" panose="020B0004020202020204" pitchFamily="34" charset="0"/>
                <a:cs typeface="Times New Roman" panose="02020603050405020304" pitchFamily="18" charset="0"/>
              </a:rPr>
              <a:t>Root Mean Squared Error (RMSE)</a:t>
            </a:r>
            <a:r>
              <a:rPr lang="en-US" sz="2250" kern="100" dirty="0">
                <a:latin typeface="Times New Roman" panose="02020603050405020304" pitchFamily="18" charset="0"/>
                <a:ea typeface="Aptos" panose="020B0004020202020204" pitchFamily="34" charset="0"/>
                <a:cs typeface="Times New Roman" panose="02020603050405020304" pitchFamily="18" charset="0"/>
              </a:rPr>
              <a:t>: 45194.24</a:t>
            </a:r>
          </a:p>
          <a:p>
            <a:pPr lvl="1">
              <a:lnSpc>
                <a:spcPct val="107000"/>
              </a:lnSpc>
              <a:spcAft>
                <a:spcPts val="1200"/>
              </a:spcAft>
              <a:buSzPts val="1000"/>
              <a:tabLst>
                <a:tab pos="1371600" algn="l"/>
              </a:tabLst>
            </a:pPr>
            <a:r>
              <a:rPr lang="en-US" sz="2250" b="1" kern="100" dirty="0">
                <a:latin typeface="Times New Roman" panose="02020603050405020304" pitchFamily="18" charset="0"/>
                <a:ea typeface="Aptos" panose="020B0004020202020204" pitchFamily="34" charset="0"/>
                <a:cs typeface="Times New Roman" panose="02020603050405020304" pitchFamily="18" charset="0"/>
              </a:rPr>
              <a:t>R² (R-Squared)</a:t>
            </a:r>
            <a:r>
              <a:rPr lang="en-US" sz="2250" kern="100" dirty="0">
                <a:latin typeface="Times New Roman" panose="02020603050405020304" pitchFamily="18" charset="0"/>
                <a:ea typeface="Aptos" panose="020B0004020202020204" pitchFamily="34" charset="0"/>
                <a:cs typeface="Times New Roman" panose="02020603050405020304" pitchFamily="18" charset="0"/>
              </a:rPr>
              <a:t>: 0.0806</a:t>
            </a:r>
          </a:p>
        </p:txBody>
      </p:sp>
      <p:pic>
        <p:nvPicPr>
          <p:cNvPr id="3" name="Picture 2">
            <a:extLst>
              <a:ext uri="{FF2B5EF4-FFF2-40B4-BE49-F238E27FC236}">
                <a16:creationId xmlns:a16="http://schemas.microsoft.com/office/drawing/2014/main" id="{E69974A6-2BC0-AF33-5893-BB2DFBDD59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9201839" y="2330067"/>
            <a:ext cx="8909685" cy="7369884"/>
          </a:xfrm>
          <a:prstGeom prst="rect">
            <a:avLst/>
          </a:prstGeom>
          <a:noFill/>
          <a:ln>
            <a:noFill/>
          </a:ln>
        </p:spPr>
      </p:pic>
      <p:sp>
        <p:nvSpPr>
          <p:cNvPr id="6" name="TextBox 5">
            <a:extLst>
              <a:ext uri="{FF2B5EF4-FFF2-40B4-BE49-F238E27FC236}">
                <a16:creationId xmlns:a16="http://schemas.microsoft.com/office/drawing/2014/main" id="{51E99D0E-D807-4E04-31E5-37CA62674FE9}"/>
              </a:ext>
            </a:extLst>
          </p:cNvPr>
          <p:cNvSpPr txBox="1"/>
          <p:nvPr/>
        </p:nvSpPr>
        <p:spPr>
          <a:xfrm>
            <a:off x="17830800" y="9833943"/>
            <a:ext cx="418704" cy="369332"/>
          </a:xfrm>
          <a:prstGeom prst="rect">
            <a:avLst/>
          </a:prstGeom>
          <a:noFill/>
        </p:spPr>
        <p:txBody>
          <a:bodyPr wrap="none" rtlCol="0">
            <a:spAutoFit/>
          </a:bodyPr>
          <a:lstStyle/>
          <a:p>
            <a:r>
              <a:rPr lang="en-US" dirty="0"/>
              <a:t>19</a:t>
            </a:r>
          </a:p>
        </p:txBody>
      </p:sp>
    </p:spTree>
    <p:extLst>
      <p:ext uri="{BB962C8B-B14F-4D97-AF65-F5344CB8AC3E}">
        <p14:creationId xmlns:p14="http://schemas.microsoft.com/office/powerpoint/2010/main" val="1807315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DF575-8CDD-F147-4AEE-2845FB1DC3E7}"/>
            </a:ext>
          </a:extLst>
        </p:cNvPr>
        <p:cNvGrpSpPr/>
        <p:nvPr/>
      </p:nvGrpSpPr>
      <p:grpSpPr>
        <a:xfrm>
          <a:off x="0" y="0"/>
          <a:ext cx="0" cy="0"/>
          <a:chOff x="0" y="0"/>
          <a:chExt cx="0" cy="0"/>
        </a:xfrm>
      </p:grpSpPr>
      <p:grpSp>
        <p:nvGrpSpPr>
          <p:cNvPr id="4" name="Group 4">
            <a:extLst>
              <a:ext uri="{FF2B5EF4-FFF2-40B4-BE49-F238E27FC236}">
                <a16:creationId xmlns:a16="http://schemas.microsoft.com/office/drawing/2014/main" id="{73A5494E-ED38-A39E-AD84-5698C9CB2FDC}"/>
              </a:ext>
            </a:extLst>
          </p:cNvPr>
          <p:cNvGrpSpPr/>
          <p:nvPr/>
        </p:nvGrpSpPr>
        <p:grpSpPr>
          <a:xfrm>
            <a:off x="8962480" y="1757451"/>
            <a:ext cx="8115300" cy="7688747"/>
            <a:chOff x="0" y="0"/>
            <a:chExt cx="2137363" cy="1813848"/>
          </a:xfrm>
        </p:grpSpPr>
        <p:sp>
          <p:nvSpPr>
            <p:cNvPr id="5" name="Freeform 5">
              <a:extLst>
                <a:ext uri="{FF2B5EF4-FFF2-40B4-BE49-F238E27FC236}">
                  <a16:creationId xmlns:a16="http://schemas.microsoft.com/office/drawing/2014/main" id="{56E300F3-A596-F1F6-2A59-8A2971CC3993}"/>
                </a:ext>
              </a:extLst>
            </p:cNvPr>
            <p:cNvSpPr/>
            <p:nvPr/>
          </p:nvSpPr>
          <p:spPr>
            <a:xfrm>
              <a:off x="0" y="0"/>
              <a:ext cx="2137363" cy="1813848"/>
            </a:xfrm>
            <a:custGeom>
              <a:avLst/>
              <a:gdLst/>
              <a:ahLst/>
              <a:cxnLst/>
              <a:rect l="l" t="t" r="r" b="b"/>
              <a:pathLst>
                <a:path w="2137363" h="1813848">
                  <a:moveTo>
                    <a:pt x="14310" y="0"/>
                  </a:moveTo>
                  <a:lnTo>
                    <a:pt x="2123053" y="0"/>
                  </a:lnTo>
                  <a:cubicBezTo>
                    <a:pt x="2126848" y="0"/>
                    <a:pt x="2130488" y="1508"/>
                    <a:pt x="2133172" y="4191"/>
                  </a:cubicBezTo>
                  <a:cubicBezTo>
                    <a:pt x="2135855" y="6875"/>
                    <a:pt x="2137363" y="10515"/>
                    <a:pt x="2137363" y="14310"/>
                  </a:cubicBezTo>
                  <a:lnTo>
                    <a:pt x="2137363" y="1799538"/>
                  </a:lnTo>
                  <a:cubicBezTo>
                    <a:pt x="2137363" y="1803333"/>
                    <a:pt x="2135855" y="1806973"/>
                    <a:pt x="2133172" y="1809657"/>
                  </a:cubicBezTo>
                  <a:cubicBezTo>
                    <a:pt x="2130488" y="1812340"/>
                    <a:pt x="2126848" y="1813848"/>
                    <a:pt x="2123053" y="1813848"/>
                  </a:cubicBezTo>
                  <a:lnTo>
                    <a:pt x="14310" y="1813848"/>
                  </a:lnTo>
                  <a:cubicBezTo>
                    <a:pt x="10515" y="1813848"/>
                    <a:pt x="6875" y="1812340"/>
                    <a:pt x="4191" y="1809657"/>
                  </a:cubicBezTo>
                  <a:cubicBezTo>
                    <a:pt x="1508" y="1806973"/>
                    <a:pt x="0" y="1803333"/>
                    <a:pt x="0" y="1799538"/>
                  </a:cubicBezTo>
                  <a:lnTo>
                    <a:pt x="0" y="14310"/>
                  </a:lnTo>
                  <a:cubicBezTo>
                    <a:pt x="0" y="10515"/>
                    <a:pt x="1508" y="6875"/>
                    <a:pt x="4191" y="4191"/>
                  </a:cubicBezTo>
                  <a:cubicBezTo>
                    <a:pt x="6875" y="1508"/>
                    <a:pt x="10515" y="0"/>
                    <a:pt x="14310" y="0"/>
                  </a:cubicBezTo>
                  <a:close/>
                </a:path>
              </a:pathLst>
            </a:custGeom>
            <a:solidFill>
              <a:srgbClr val="E2A9DD"/>
            </a:solidFill>
          </p:spPr>
          <p:txBody>
            <a:bodyPr/>
            <a:lstStyle/>
            <a:p>
              <a:endParaRPr lang="en-US">
                <a:latin typeface="Times New Roman" panose="02020603050405020304" pitchFamily="18" charset="0"/>
                <a:cs typeface="Times New Roman" panose="02020603050405020304" pitchFamily="18" charset="0"/>
              </a:endParaRPr>
            </a:p>
          </p:txBody>
        </p:sp>
        <p:sp>
          <p:nvSpPr>
            <p:cNvPr id="6" name="TextBox 6">
              <a:extLst>
                <a:ext uri="{FF2B5EF4-FFF2-40B4-BE49-F238E27FC236}">
                  <a16:creationId xmlns:a16="http://schemas.microsoft.com/office/drawing/2014/main" id="{487002B2-35A9-F13D-D5CC-717C1885C50C}"/>
                </a:ext>
              </a:extLst>
            </p:cNvPr>
            <p:cNvSpPr txBox="1"/>
            <p:nvPr/>
          </p:nvSpPr>
          <p:spPr>
            <a:xfrm>
              <a:off x="0" y="0"/>
              <a:ext cx="2137363" cy="181384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7" name="TextBox 7">
            <a:extLst>
              <a:ext uri="{FF2B5EF4-FFF2-40B4-BE49-F238E27FC236}">
                <a16:creationId xmlns:a16="http://schemas.microsoft.com/office/drawing/2014/main" id="{2784E446-9780-0FF5-991D-3F203F694A88}"/>
              </a:ext>
            </a:extLst>
          </p:cNvPr>
          <p:cNvSpPr txBox="1"/>
          <p:nvPr/>
        </p:nvSpPr>
        <p:spPr>
          <a:xfrm>
            <a:off x="9276259" y="1961218"/>
            <a:ext cx="7487742" cy="6463308"/>
          </a:xfrm>
          <a:prstGeom prst="rect">
            <a:avLst/>
          </a:prstGeom>
        </p:spPr>
        <p:txBody>
          <a:bodyPr wrap="square" lIns="0" tIns="0" rIns="0" bIns="0" rtlCol="0" anchor="t">
            <a:spAutoFit/>
          </a:bodyPr>
          <a:lstStyle/>
          <a:p>
            <a:pPr marL="342900" indent="-342900">
              <a:buFont typeface="Wingdings" panose="05000000000000000000" pitchFamily="2" charset="2"/>
              <a:buChar char="q"/>
            </a:pPr>
            <a:r>
              <a:rPr lang="en-US" sz="2800" spc="192" dirty="0">
                <a:latin typeface="Times New Roman" panose="02020603050405020304" pitchFamily="18" charset="0"/>
                <a:ea typeface="Maragsa"/>
                <a:cs typeface="Times New Roman" panose="02020603050405020304" pitchFamily="18" charset="0"/>
                <a:sym typeface="Maragsa"/>
              </a:rPr>
              <a:t>The ARIMAX model demonstrated moderate effectiveness for forecasting least and most ordered meals, but its performance was hindered by the high variability and occasional demand spikes in these categories. </a:t>
            </a:r>
          </a:p>
          <a:p>
            <a:pPr marL="342900" indent="-342900">
              <a:buFont typeface="Wingdings" panose="05000000000000000000" pitchFamily="2" charset="2"/>
              <a:buChar char="q"/>
            </a:pPr>
            <a:endParaRPr lang="en-US" sz="2800" spc="192" dirty="0">
              <a:latin typeface="Times New Roman" panose="02020603050405020304" pitchFamily="18" charset="0"/>
              <a:ea typeface="Maragsa"/>
              <a:cs typeface="Times New Roman" panose="02020603050405020304" pitchFamily="18" charset="0"/>
              <a:sym typeface="Maragsa"/>
            </a:endParaRPr>
          </a:p>
          <a:p>
            <a:pPr marL="342900" indent="-342900">
              <a:buFont typeface="Wingdings" panose="05000000000000000000" pitchFamily="2" charset="2"/>
              <a:buChar char="q"/>
            </a:pPr>
            <a:r>
              <a:rPr lang="en-US" sz="2800" spc="192" dirty="0">
                <a:latin typeface="Times New Roman" panose="02020603050405020304" pitchFamily="18" charset="0"/>
                <a:ea typeface="Maragsa"/>
                <a:cs typeface="Times New Roman" panose="02020603050405020304" pitchFamily="18" charset="0"/>
                <a:sym typeface="Maragsa"/>
              </a:rPr>
              <a:t>Linear regression analysis provided complementary insights, revealing the significant impact of pricing, promotions, and meal visibility on demand. The results highlighted the importance of dynamic pricing and strategic promotional planning to manage and influence meal orders effectively.</a:t>
            </a:r>
          </a:p>
        </p:txBody>
      </p:sp>
      <p:sp>
        <p:nvSpPr>
          <p:cNvPr id="9" name="Freeform 9">
            <a:extLst>
              <a:ext uri="{FF2B5EF4-FFF2-40B4-BE49-F238E27FC236}">
                <a16:creationId xmlns:a16="http://schemas.microsoft.com/office/drawing/2014/main" id="{2BF7D4B7-BAE0-846F-7273-DBA88C32FF3C}"/>
              </a:ext>
            </a:extLst>
          </p:cNvPr>
          <p:cNvSpPr/>
          <p:nvPr/>
        </p:nvSpPr>
        <p:spPr>
          <a:xfrm>
            <a:off x="831378" y="2176773"/>
            <a:ext cx="7703385" cy="7017084"/>
          </a:xfrm>
          <a:custGeom>
            <a:avLst/>
            <a:gdLst/>
            <a:ahLst/>
            <a:cxnLst/>
            <a:rect l="l" t="t" r="r" b="b"/>
            <a:pathLst>
              <a:path w="7703385" h="7017084">
                <a:moveTo>
                  <a:pt x="0" y="0"/>
                </a:moveTo>
                <a:lnTo>
                  <a:pt x="7703385" y="0"/>
                </a:lnTo>
                <a:lnTo>
                  <a:pt x="7703385" y="7017084"/>
                </a:lnTo>
                <a:lnTo>
                  <a:pt x="0" y="701708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latin typeface="Times New Roman" panose="02020603050405020304" pitchFamily="18" charset="0"/>
              <a:cs typeface="Times New Roman" panose="02020603050405020304" pitchFamily="18" charset="0"/>
            </a:endParaRPr>
          </a:p>
        </p:txBody>
      </p:sp>
      <p:sp>
        <p:nvSpPr>
          <p:cNvPr id="10" name="TextBox 10">
            <a:extLst>
              <a:ext uri="{FF2B5EF4-FFF2-40B4-BE49-F238E27FC236}">
                <a16:creationId xmlns:a16="http://schemas.microsoft.com/office/drawing/2014/main" id="{AEC1FD2F-F2EE-4C3F-F20A-5E05D7551E77}"/>
              </a:ext>
            </a:extLst>
          </p:cNvPr>
          <p:cNvSpPr txBox="1"/>
          <p:nvPr/>
        </p:nvSpPr>
        <p:spPr>
          <a:xfrm>
            <a:off x="2057400" y="840801"/>
            <a:ext cx="14173200" cy="936218"/>
          </a:xfrm>
          <a:prstGeom prst="rect">
            <a:avLst/>
          </a:prstGeom>
        </p:spPr>
        <p:txBody>
          <a:bodyPr wrap="square"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Conclusion</a:t>
            </a:r>
          </a:p>
        </p:txBody>
      </p:sp>
      <p:sp>
        <p:nvSpPr>
          <p:cNvPr id="11" name="TextBox 20">
            <a:extLst>
              <a:ext uri="{FF2B5EF4-FFF2-40B4-BE49-F238E27FC236}">
                <a16:creationId xmlns:a16="http://schemas.microsoft.com/office/drawing/2014/main" id="{B41F0A83-1749-B69F-77B7-8F7E09996F65}"/>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12" name="TextBox 5">
            <a:extLst>
              <a:ext uri="{FF2B5EF4-FFF2-40B4-BE49-F238E27FC236}">
                <a16:creationId xmlns:a16="http://schemas.microsoft.com/office/drawing/2014/main" id="{5461832E-D92F-CE0E-E6D5-A0EF0E609E61}"/>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
        <p:nvSpPr>
          <p:cNvPr id="3" name="TextBox 2">
            <a:extLst>
              <a:ext uri="{FF2B5EF4-FFF2-40B4-BE49-F238E27FC236}">
                <a16:creationId xmlns:a16="http://schemas.microsoft.com/office/drawing/2014/main" id="{BCE45E89-CC82-31EA-491F-E7A90C5279B8}"/>
              </a:ext>
            </a:extLst>
          </p:cNvPr>
          <p:cNvSpPr txBox="1"/>
          <p:nvPr/>
        </p:nvSpPr>
        <p:spPr>
          <a:xfrm>
            <a:off x="17830800" y="9833943"/>
            <a:ext cx="418704" cy="369332"/>
          </a:xfrm>
          <a:prstGeom prst="rect">
            <a:avLst/>
          </a:prstGeom>
          <a:noFill/>
        </p:spPr>
        <p:txBody>
          <a:bodyPr wrap="none" rtlCol="0">
            <a:spAutoFit/>
          </a:bodyPr>
          <a:lstStyle/>
          <a:p>
            <a:r>
              <a:rPr lang="en-US" dirty="0"/>
              <a:t>20</a:t>
            </a:r>
          </a:p>
        </p:txBody>
      </p:sp>
    </p:spTree>
    <p:extLst>
      <p:ext uri="{BB962C8B-B14F-4D97-AF65-F5344CB8AC3E}">
        <p14:creationId xmlns:p14="http://schemas.microsoft.com/office/powerpoint/2010/main" val="19617174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2EFA8-DDAE-9B72-6551-20E251BFAB06}"/>
            </a:ext>
          </a:extLst>
        </p:cNvPr>
        <p:cNvGrpSpPr/>
        <p:nvPr/>
      </p:nvGrpSpPr>
      <p:grpSpPr>
        <a:xfrm>
          <a:off x="0" y="0"/>
          <a:ext cx="0" cy="0"/>
          <a:chOff x="0" y="0"/>
          <a:chExt cx="0" cy="0"/>
        </a:xfrm>
      </p:grpSpPr>
      <p:sp>
        <p:nvSpPr>
          <p:cNvPr id="47" name="TextBox 10">
            <a:extLst>
              <a:ext uri="{FF2B5EF4-FFF2-40B4-BE49-F238E27FC236}">
                <a16:creationId xmlns:a16="http://schemas.microsoft.com/office/drawing/2014/main" id="{21171545-E8EB-775B-5331-C06677E07EDB}"/>
              </a:ext>
            </a:extLst>
          </p:cNvPr>
          <p:cNvSpPr txBox="1"/>
          <p:nvPr/>
        </p:nvSpPr>
        <p:spPr>
          <a:xfrm>
            <a:off x="2057400" y="690393"/>
            <a:ext cx="14173200" cy="936218"/>
          </a:xfrm>
          <a:prstGeom prst="rect">
            <a:avLst/>
          </a:prstGeom>
        </p:spPr>
        <p:txBody>
          <a:bodyPr wrap="square"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Business Strategy Insights </a:t>
            </a:r>
          </a:p>
        </p:txBody>
      </p:sp>
      <p:sp>
        <p:nvSpPr>
          <p:cNvPr id="48" name="TextBox 20">
            <a:extLst>
              <a:ext uri="{FF2B5EF4-FFF2-40B4-BE49-F238E27FC236}">
                <a16:creationId xmlns:a16="http://schemas.microsoft.com/office/drawing/2014/main" id="{9B61DCB9-82D3-C3DF-E7A1-670C53482186}"/>
              </a:ext>
            </a:extLst>
          </p:cNvPr>
          <p:cNvSpPr txBox="1"/>
          <p:nvPr/>
        </p:nvSpPr>
        <p:spPr>
          <a:xfrm>
            <a:off x="5267870" y="339846"/>
            <a:ext cx="7752260" cy="214802"/>
          </a:xfrm>
          <a:prstGeom prst="rect">
            <a:avLst/>
          </a:prstGeom>
        </p:spPr>
        <p:txBody>
          <a:bodyPr lIns="0" tIns="0" rIns="0" bIns="0" rtlCol="0" anchor="t">
            <a:spAutoFit/>
          </a:bodyPr>
          <a:lstStyle/>
          <a:p>
            <a:pPr algn="ctr">
              <a:lnSpc>
                <a:spcPts val="1599"/>
              </a:lnSpc>
            </a:pPr>
            <a:r>
              <a:rPr lang="en-US"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49" name="TextBox 5">
            <a:extLst>
              <a:ext uri="{FF2B5EF4-FFF2-40B4-BE49-F238E27FC236}">
                <a16:creationId xmlns:a16="http://schemas.microsoft.com/office/drawing/2014/main" id="{8534BF76-4A62-A909-3479-8F4954A601B3}"/>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
        <p:nvSpPr>
          <p:cNvPr id="51" name="TextBox 7">
            <a:extLst>
              <a:ext uri="{FF2B5EF4-FFF2-40B4-BE49-F238E27FC236}">
                <a16:creationId xmlns:a16="http://schemas.microsoft.com/office/drawing/2014/main" id="{A7862ED1-6B02-7E03-F407-5DC9AB833E7E}"/>
              </a:ext>
            </a:extLst>
          </p:cNvPr>
          <p:cNvSpPr txBox="1"/>
          <p:nvPr/>
        </p:nvSpPr>
        <p:spPr>
          <a:xfrm>
            <a:off x="8839200" y="3939933"/>
            <a:ext cx="10287000" cy="2407134"/>
          </a:xfrm>
          <a:prstGeom prst="rect">
            <a:avLst/>
          </a:prstGeom>
        </p:spPr>
        <p:txBody>
          <a:bodyPr wrap="square" lIns="0" tIns="0" rIns="0" bIns="0" rtlCol="0" anchor="t">
            <a:spAutoFit/>
          </a:bodyPr>
          <a:lstStyle/>
          <a:p>
            <a:pPr marL="517525" indent="-288925">
              <a:lnSpc>
                <a:spcPct val="150000"/>
              </a:lnSpc>
              <a:buFont typeface="Arial" panose="020B0604020202020204" pitchFamily="34" charset="0"/>
              <a:buChar char="•"/>
            </a:pPr>
            <a:r>
              <a:rPr lang="en-US" sz="3600" b="1" dirty="0">
                <a:latin typeface="Times New Roman" panose="02020603050405020304" pitchFamily="18" charset="0"/>
                <a:ea typeface="Quattrocento Bold"/>
                <a:cs typeface="Times New Roman" panose="02020603050405020304" pitchFamily="18" charset="0"/>
                <a:sym typeface="Quattrocento Bold"/>
              </a:rPr>
              <a:t>Targeting Low Performers</a:t>
            </a:r>
          </a:p>
          <a:p>
            <a:pPr marL="517525" indent="-288925">
              <a:lnSpc>
                <a:spcPct val="150000"/>
              </a:lnSpc>
              <a:buFont typeface="Arial" panose="020B0604020202020204" pitchFamily="34" charset="0"/>
              <a:buChar char="•"/>
            </a:pPr>
            <a:r>
              <a:rPr lang="en-US" sz="3600" b="1" dirty="0">
                <a:latin typeface="Times New Roman" panose="02020603050405020304" pitchFamily="18" charset="0"/>
                <a:ea typeface="Quattrocento Bold"/>
                <a:cs typeface="Times New Roman" panose="02020603050405020304" pitchFamily="18" charset="0"/>
                <a:sym typeface="Quattrocento Bold"/>
              </a:rPr>
              <a:t>Prioritizing High Performers </a:t>
            </a:r>
          </a:p>
          <a:p>
            <a:pPr marL="517525" indent="-288925">
              <a:lnSpc>
                <a:spcPct val="150000"/>
              </a:lnSpc>
              <a:buFont typeface="Arial" panose="020B0604020202020204" pitchFamily="34" charset="0"/>
              <a:buChar char="•"/>
            </a:pPr>
            <a:r>
              <a:rPr lang="en-US" sz="3600" b="1" dirty="0">
                <a:latin typeface="Times New Roman" panose="02020603050405020304" pitchFamily="18" charset="0"/>
                <a:ea typeface="Quattrocento Bold"/>
                <a:cs typeface="Times New Roman" panose="02020603050405020304" pitchFamily="18" charset="0"/>
                <a:sym typeface="Quattrocento Bold"/>
              </a:rPr>
              <a:t>Understanding Price Sensitivity </a:t>
            </a:r>
            <a:endParaRPr lang="en-US" sz="3600" dirty="0">
              <a:latin typeface="Times New Roman" panose="02020603050405020304" pitchFamily="18" charset="0"/>
              <a:ea typeface="Quattrocento Bold"/>
              <a:cs typeface="Times New Roman" panose="02020603050405020304" pitchFamily="18" charset="0"/>
              <a:sym typeface="Quattrocento Bold"/>
            </a:endParaRPr>
          </a:p>
        </p:txBody>
      </p:sp>
      <p:sp>
        <p:nvSpPr>
          <p:cNvPr id="2" name="Freeform 4">
            <a:extLst>
              <a:ext uri="{FF2B5EF4-FFF2-40B4-BE49-F238E27FC236}">
                <a16:creationId xmlns:a16="http://schemas.microsoft.com/office/drawing/2014/main" id="{9DFF9153-F392-60A5-663E-9AADE7DA5DE7}"/>
              </a:ext>
            </a:extLst>
          </p:cNvPr>
          <p:cNvSpPr/>
          <p:nvPr/>
        </p:nvSpPr>
        <p:spPr>
          <a:xfrm>
            <a:off x="-152400" y="2504893"/>
            <a:ext cx="7817205" cy="5855798"/>
          </a:xfrm>
          <a:custGeom>
            <a:avLst/>
            <a:gdLst/>
            <a:ahLst/>
            <a:cxnLst/>
            <a:rect l="l" t="t" r="r" b="b"/>
            <a:pathLst>
              <a:path w="7817205" h="5855798">
                <a:moveTo>
                  <a:pt x="0" y="0"/>
                </a:moveTo>
                <a:lnTo>
                  <a:pt x="7817206" y="0"/>
                </a:lnTo>
                <a:lnTo>
                  <a:pt x="7817206" y="5855798"/>
                </a:lnTo>
                <a:lnTo>
                  <a:pt x="0" y="585579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8485D5D-1CBF-0300-DBBE-B359BC482C6F}"/>
              </a:ext>
            </a:extLst>
          </p:cNvPr>
          <p:cNvSpPr txBox="1"/>
          <p:nvPr/>
        </p:nvSpPr>
        <p:spPr>
          <a:xfrm>
            <a:off x="17830800" y="9833943"/>
            <a:ext cx="418704" cy="369332"/>
          </a:xfrm>
          <a:prstGeom prst="rect">
            <a:avLst/>
          </a:prstGeom>
          <a:noFill/>
        </p:spPr>
        <p:txBody>
          <a:bodyPr wrap="none" rtlCol="0">
            <a:spAutoFit/>
          </a:bodyPr>
          <a:lstStyle/>
          <a:p>
            <a:r>
              <a:rPr lang="en-US" dirty="0"/>
              <a:t>21</a:t>
            </a:r>
          </a:p>
        </p:txBody>
      </p:sp>
    </p:spTree>
    <p:extLst>
      <p:ext uri="{BB962C8B-B14F-4D97-AF65-F5344CB8AC3E}">
        <p14:creationId xmlns:p14="http://schemas.microsoft.com/office/powerpoint/2010/main" val="22705796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C719C-9153-CE3F-2A2C-19E5C058209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A64DE8C-F166-B549-1A43-5CDE6B62A6EB}"/>
              </a:ext>
            </a:extLst>
          </p:cNvPr>
          <p:cNvSpPr/>
          <p:nvPr/>
        </p:nvSpPr>
        <p:spPr>
          <a:xfrm>
            <a:off x="1028700" y="2552287"/>
            <a:ext cx="6691904" cy="5572531"/>
          </a:xfrm>
          <a:custGeom>
            <a:avLst/>
            <a:gdLst/>
            <a:ahLst/>
            <a:cxnLst/>
            <a:rect l="l" t="t" r="r" b="b"/>
            <a:pathLst>
              <a:path w="6691904" h="5572531">
                <a:moveTo>
                  <a:pt x="0" y="0"/>
                </a:moveTo>
                <a:lnTo>
                  <a:pt x="6691904" y="0"/>
                </a:lnTo>
                <a:lnTo>
                  <a:pt x="6691904" y="5572531"/>
                </a:lnTo>
                <a:lnTo>
                  <a:pt x="0" y="557253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latin typeface="Times New Roman" panose="02020603050405020304" pitchFamily="18" charset="0"/>
              <a:cs typeface="Times New Roman" panose="02020603050405020304" pitchFamily="18" charset="0"/>
            </a:endParaRPr>
          </a:p>
        </p:txBody>
      </p:sp>
      <p:sp>
        <p:nvSpPr>
          <p:cNvPr id="3" name="TextBox 3">
            <a:extLst>
              <a:ext uri="{FF2B5EF4-FFF2-40B4-BE49-F238E27FC236}">
                <a16:creationId xmlns:a16="http://schemas.microsoft.com/office/drawing/2014/main" id="{385C4EAD-9646-5D97-B0C6-E4A44F9A9E6A}"/>
              </a:ext>
            </a:extLst>
          </p:cNvPr>
          <p:cNvSpPr txBox="1"/>
          <p:nvPr/>
        </p:nvSpPr>
        <p:spPr>
          <a:xfrm>
            <a:off x="5267870" y="407660"/>
            <a:ext cx="7752260" cy="212090"/>
          </a:xfrm>
          <a:prstGeom prst="rect">
            <a:avLst/>
          </a:prstGeom>
        </p:spPr>
        <p:txBody>
          <a:bodyPr lIns="0" tIns="0" rIns="0" bIns="0" rtlCol="0" anchor="t">
            <a:spAutoFit/>
          </a:bodyPr>
          <a:lstStyle/>
          <a:p>
            <a:pPr algn="ctr">
              <a:lnSpc>
                <a:spcPts val="1599"/>
              </a:lnSpc>
            </a:pPr>
            <a:r>
              <a:rPr lang="en-US" sz="1600"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4" name="TextBox 4">
            <a:extLst>
              <a:ext uri="{FF2B5EF4-FFF2-40B4-BE49-F238E27FC236}">
                <a16:creationId xmlns:a16="http://schemas.microsoft.com/office/drawing/2014/main" id="{9A081ED3-F9CE-3654-6F3B-D5495E39AE48}"/>
              </a:ext>
            </a:extLst>
          </p:cNvPr>
          <p:cNvSpPr txBox="1"/>
          <p:nvPr/>
        </p:nvSpPr>
        <p:spPr>
          <a:xfrm>
            <a:off x="9144000" y="1578832"/>
            <a:ext cx="7752260" cy="923330"/>
          </a:xfrm>
          <a:prstGeom prst="rect">
            <a:avLst/>
          </a:prstGeom>
        </p:spPr>
        <p:txBody>
          <a:bodyPr lIns="0" tIns="0" rIns="0" bIns="0" rtlCol="0" anchor="t">
            <a:spAutoFit/>
          </a:bodyPr>
          <a:lstStyle/>
          <a:p>
            <a:pPr algn="ctr">
              <a:lnSpc>
                <a:spcPts val="7200"/>
              </a:lnSpc>
            </a:pPr>
            <a:r>
              <a:rPr lang="en-US" sz="7200" spc="288" dirty="0">
                <a:solidFill>
                  <a:srgbClr val="5B19EC"/>
                </a:solidFill>
                <a:latin typeface="Times New Roman" panose="02020603050405020304" pitchFamily="18" charset="0"/>
                <a:ea typeface="Maragsa"/>
                <a:cs typeface="Times New Roman" panose="02020603050405020304" pitchFamily="18" charset="0"/>
                <a:sym typeface="Maragsa"/>
              </a:rPr>
              <a:t>FUTURE WORK</a:t>
            </a:r>
          </a:p>
        </p:txBody>
      </p:sp>
      <p:sp>
        <p:nvSpPr>
          <p:cNvPr id="5" name="TextBox 5">
            <a:extLst>
              <a:ext uri="{FF2B5EF4-FFF2-40B4-BE49-F238E27FC236}">
                <a16:creationId xmlns:a16="http://schemas.microsoft.com/office/drawing/2014/main" id="{1FA28845-C55D-5CAB-02A9-89CA1CCDD235}"/>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grpSp>
        <p:nvGrpSpPr>
          <p:cNvPr id="6" name="Group 6">
            <a:extLst>
              <a:ext uri="{FF2B5EF4-FFF2-40B4-BE49-F238E27FC236}">
                <a16:creationId xmlns:a16="http://schemas.microsoft.com/office/drawing/2014/main" id="{C07147C7-796E-28A8-A1FC-E68B18A78DEF}"/>
              </a:ext>
            </a:extLst>
          </p:cNvPr>
          <p:cNvGrpSpPr/>
          <p:nvPr/>
        </p:nvGrpSpPr>
        <p:grpSpPr>
          <a:xfrm>
            <a:off x="8659775" y="2980912"/>
            <a:ext cx="5736432" cy="826231"/>
            <a:chOff x="0" y="0"/>
            <a:chExt cx="1090119" cy="217608"/>
          </a:xfrm>
        </p:grpSpPr>
        <p:sp>
          <p:nvSpPr>
            <p:cNvPr id="7" name="Freeform 7">
              <a:extLst>
                <a:ext uri="{FF2B5EF4-FFF2-40B4-BE49-F238E27FC236}">
                  <a16:creationId xmlns:a16="http://schemas.microsoft.com/office/drawing/2014/main" id="{AF88651D-00D1-D34D-7D10-1D4B568654CE}"/>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endParaRPr lang="en-US" dirty="0">
                <a:latin typeface="Times New Roman" panose="02020603050405020304" pitchFamily="18" charset="0"/>
                <a:cs typeface="Times New Roman" panose="02020603050405020304" pitchFamily="18" charset="0"/>
              </a:endParaRPr>
            </a:p>
          </p:txBody>
        </p:sp>
        <p:sp>
          <p:nvSpPr>
            <p:cNvPr id="8" name="TextBox 8">
              <a:extLst>
                <a:ext uri="{FF2B5EF4-FFF2-40B4-BE49-F238E27FC236}">
                  <a16:creationId xmlns:a16="http://schemas.microsoft.com/office/drawing/2014/main" id="{1FD7260A-312C-73CF-E9F5-2852FB869611}"/>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9" name="TextBox 9">
            <a:extLst>
              <a:ext uri="{FF2B5EF4-FFF2-40B4-BE49-F238E27FC236}">
                <a16:creationId xmlns:a16="http://schemas.microsoft.com/office/drawing/2014/main" id="{FDEBA889-25AA-5F64-EE8F-4FDEFA1CA7B9}"/>
              </a:ext>
            </a:extLst>
          </p:cNvPr>
          <p:cNvSpPr txBox="1"/>
          <p:nvPr/>
        </p:nvSpPr>
        <p:spPr>
          <a:xfrm>
            <a:off x="8897771" y="3113993"/>
            <a:ext cx="830611" cy="615553"/>
          </a:xfrm>
          <a:prstGeom prst="rect">
            <a:avLst/>
          </a:prstGeom>
        </p:spPr>
        <p:txBody>
          <a:bodyPr lIns="0" tIns="0" rIns="0" bIns="0" rtlCol="0" anchor="t">
            <a:spAutoFit/>
          </a:bodyPr>
          <a:lstStyle/>
          <a:p>
            <a:pPr algn="ctr">
              <a:lnSpc>
                <a:spcPts val="4800"/>
              </a:lnSpc>
            </a:pPr>
            <a:r>
              <a:rPr lang="en-US" sz="4800" spc="192">
                <a:solidFill>
                  <a:srgbClr val="5B19EC"/>
                </a:solidFill>
                <a:latin typeface="Times New Roman" panose="02020603050405020304" pitchFamily="18" charset="0"/>
                <a:ea typeface="Maragsa"/>
                <a:cs typeface="Times New Roman" panose="02020603050405020304" pitchFamily="18" charset="0"/>
                <a:sym typeface="Maragsa"/>
              </a:rPr>
              <a:t>01</a:t>
            </a:r>
          </a:p>
        </p:txBody>
      </p:sp>
      <p:sp>
        <p:nvSpPr>
          <p:cNvPr id="10" name="TextBox 10">
            <a:extLst>
              <a:ext uri="{FF2B5EF4-FFF2-40B4-BE49-F238E27FC236}">
                <a16:creationId xmlns:a16="http://schemas.microsoft.com/office/drawing/2014/main" id="{5D1A17BA-BA59-4A9E-EEA0-1F9F398DE3F6}"/>
              </a:ext>
            </a:extLst>
          </p:cNvPr>
          <p:cNvSpPr txBox="1"/>
          <p:nvPr/>
        </p:nvSpPr>
        <p:spPr>
          <a:xfrm>
            <a:off x="10033225" y="3174953"/>
            <a:ext cx="2765595" cy="411138"/>
          </a:xfrm>
          <a:prstGeom prst="rect">
            <a:avLst/>
          </a:prstGeom>
        </p:spPr>
        <p:txBody>
          <a:bodyPr wrap="square" lIns="0" tIns="0" rIns="0" bIns="0" rtlCol="0" anchor="t">
            <a:spAutoFit/>
          </a:bodyPr>
          <a:lstStyle/>
          <a:p>
            <a:pPr algn="l">
              <a:lnSpc>
                <a:spcPts val="3359"/>
              </a:lnSpc>
            </a:pPr>
            <a:r>
              <a:rPr lang="en-US" sz="2799"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Ingredient Analysis</a:t>
            </a:r>
          </a:p>
        </p:txBody>
      </p:sp>
      <p:grpSp>
        <p:nvGrpSpPr>
          <p:cNvPr id="11" name="Group 11">
            <a:extLst>
              <a:ext uri="{FF2B5EF4-FFF2-40B4-BE49-F238E27FC236}">
                <a16:creationId xmlns:a16="http://schemas.microsoft.com/office/drawing/2014/main" id="{BA9FD25C-1140-E586-2AD7-A27C649CE7EB}"/>
              </a:ext>
            </a:extLst>
          </p:cNvPr>
          <p:cNvGrpSpPr/>
          <p:nvPr/>
        </p:nvGrpSpPr>
        <p:grpSpPr>
          <a:xfrm>
            <a:off x="8659775" y="4225453"/>
            <a:ext cx="5742025" cy="826231"/>
            <a:chOff x="0" y="0"/>
            <a:chExt cx="1090119" cy="217608"/>
          </a:xfrm>
        </p:grpSpPr>
        <p:sp>
          <p:nvSpPr>
            <p:cNvPr id="12" name="Freeform 12">
              <a:extLst>
                <a:ext uri="{FF2B5EF4-FFF2-40B4-BE49-F238E27FC236}">
                  <a16:creationId xmlns:a16="http://schemas.microsoft.com/office/drawing/2014/main" id="{5803622D-7AB2-1F74-AB1B-9B175E1BA28A}"/>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endParaRPr lang="en-US">
                <a:latin typeface="Times New Roman" panose="02020603050405020304" pitchFamily="18" charset="0"/>
                <a:cs typeface="Times New Roman" panose="02020603050405020304" pitchFamily="18" charset="0"/>
              </a:endParaRPr>
            </a:p>
          </p:txBody>
        </p:sp>
        <p:sp>
          <p:nvSpPr>
            <p:cNvPr id="13" name="TextBox 13">
              <a:extLst>
                <a:ext uri="{FF2B5EF4-FFF2-40B4-BE49-F238E27FC236}">
                  <a16:creationId xmlns:a16="http://schemas.microsoft.com/office/drawing/2014/main" id="{DEC7096B-9775-6F8E-ED69-CB0B9AAE6EB8}"/>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14" name="TextBox 14">
            <a:extLst>
              <a:ext uri="{FF2B5EF4-FFF2-40B4-BE49-F238E27FC236}">
                <a16:creationId xmlns:a16="http://schemas.microsoft.com/office/drawing/2014/main" id="{510284E9-EF2D-CBC0-CFBB-1E9915DD668F}"/>
              </a:ext>
            </a:extLst>
          </p:cNvPr>
          <p:cNvSpPr txBox="1"/>
          <p:nvPr/>
        </p:nvSpPr>
        <p:spPr>
          <a:xfrm>
            <a:off x="8897770" y="4358534"/>
            <a:ext cx="830611" cy="615553"/>
          </a:xfrm>
          <a:prstGeom prst="rect">
            <a:avLst/>
          </a:prstGeom>
        </p:spPr>
        <p:txBody>
          <a:bodyPr lIns="0" tIns="0" rIns="0" bIns="0" rtlCol="0" anchor="t">
            <a:spAutoFit/>
          </a:bodyPr>
          <a:lstStyle/>
          <a:p>
            <a:pPr algn="ctr">
              <a:lnSpc>
                <a:spcPts val="4800"/>
              </a:lnSpc>
            </a:pPr>
            <a:r>
              <a:rPr lang="en-US" sz="4800" spc="192">
                <a:solidFill>
                  <a:srgbClr val="5B19EC"/>
                </a:solidFill>
                <a:latin typeface="Times New Roman" panose="02020603050405020304" pitchFamily="18" charset="0"/>
                <a:ea typeface="Maragsa"/>
                <a:cs typeface="Times New Roman" panose="02020603050405020304" pitchFamily="18" charset="0"/>
                <a:sym typeface="Maragsa"/>
              </a:rPr>
              <a:t>02</a:t>
            </a:r>
          </a:p>
        </p:txBody>
      </p:sp>
      <p:sp>
        <p:nvSpPr>
          <p:cNvPr id="15" name="TextBox 15">
            <a:extLst>
              <a:ext uri="{FF2B5EF4-FFF2-40B4-BE49-F238E27FC236}">
                <a16:creationId xmlns:a16="http://schemas.microsoft.com/office/drawing/2014/main" id="{7070ACA4-3598-095F-C2AF-AD1524808FD8}"/>
              </a:ext>
            </a:extLst>
          </p:cNvPr>
          <p:cNvSpPr txBox="1"/>
          <p:nvPr/>
        </p:nvSpPr>
        <p:spPr>
          <a:xfrm>
            <a:off x="10033224" y="4419494"/>
            <a:ext cx="4368576" cy="411138"/>
          </a:xfrm>
          <a:prstGeom prst="rect">
            <a:avLst/>
          </a:prstGeom>
        </p:spPr>
        <p:txBody>
          <a:bodyPr wrap="square" lIns="0" tIns="0" rIns="0" bIns="0" rtlCol="0" anchor="t">
            <a:spAutoFit/>
          </a:bodyPr>
          <a:lstStyle/>
          <a:p>
            <a:pPr algn="l">
              <a:lnSpc>
                <a:spcPts val="3359"/>
              </a:lnSpc>
            </a:pPr>
            <a:r>
              <a:rPr lang="en-US" sz="2799"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Long-term Inventory Planning</a:t>
            </a:r>
          </a:p>
        </p:txBody>
      </p:sp>
      <p:grpSp>
        <p:nvGrpSpPr>
          <p:cNvPr id="16" name="Group 16">
            <a:extLst>
              <a:ext uri="{FF2B5EF4-FFF2-40B4-BE49-F238E27FC236}">
                <a16:creationId xmlns:a16="http://schemas.microsoft.com/office/drawing/2014/main" id="{DD91B693-0B06-2272-7683-95D39D0E3134}"/>
              </a:ext>
            </a:extLst>
          </p:cNvPr>
          <p:cNvGrpSpPr/>
          <p:nvPr/>
        </p:nvGrpSpPr>
        <p:grpSpPr>
          <a:xfrm>
            <a:off x="8659775" y="5685978"/>
            <a:ext cx="5742025" cy="826231"/>
            <a:chOff x="0" y="0"/>
            <a:chExt cx="1090119" cy="217608"/>
          </a:xfrm>
        </p:grpSpPr>
        <p:sp>
          <p:nvSpPr>
            <p:cNvPr id="17" name="Freeform 17">
              <a:extLst>
                <a:ext uri="{FF2B5EF4-FFF2-40B4-BE49-F238E27FC236}">
                  <a16:creationId xmlns:a16="http://schemas.microsoft.com/office/drawing/2014/main" id="{26FF3F26-A34B-F722-D5A6-AFE2C6EBA9B9}"/>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endParaRPr lang="en-US">
                <a:latin typeface="Times New Roman" panose="02020603050405020304" pitchFamily="18" charset="0"/>
                <a:cs typeface="Times New Roman" panose="02020603050405020304" pitchFamily="18" charset="0"/>
              </a:endParaRPr>
            </a:p>
          </p:txBody>
        </p:sp>
        <p:sp>
          <p:nvSpPr>
            <p:cNvPr id="18" name="TextBox 18">
              <a:extLst>
                <a:ext uri="{FF2B5EF4-FFF2-40B4-BE49-F238E27FC236}">
                  <a16:creationId xmlns:a16="http://schemas.microsoft.com/office/drawing/2014/main" id="{5006EAA4-AEC2-39FF-203F-0361EFED66EC}"/>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19" name="TextBox 19">
            <a:extLst>
              <a:ext uri="{FF2B5EF4-FFF2-40B4-BE49-F238E27FC236}">
                <a16:creationId xmlns:a16="http://schemas.microsoft.com/office/drawing/2014/main" id="{18C552B0-613B-1FB2-FDBD-37153C123B3D}"/>
              </a:ext>
            </a:extLst>
          </p:cNvPr>
          <p:cNvSpPr txBox="1"/>
          <p:nvPr/>
        </p:nvSpPr>
        <p:spPr>
          <a:xfrm>
            <a:off x="8897770" y="5819059"/>
            <a:ext cx="830611" cy="615553"/>
          </a:xfrm>
          <a:prstGeom prst="rect">
            <a:avLst/>
          </a:prstGeom>
        </p:spPr>
        <p:txBody>
          <a:bodyPr lIns="0" tIns="0" rIns="0" bIns="0" rtlCol="0" anchor="t">
            <a:spAutoFit/>
          </a:bodyPr>
          <a:lstStyle/>
          <a:p>
            <a:pPr algn="ctr">
              <a:lnSpc>
                <a:spcPts val="4800"/>
              </a:lnSpc>
            </a:pPr>
            <a:r>
              <a:rPr lang="en-US" sz="4800" spc="192">
                <a:solidFill>
                  <a:srgbClr val="5B19EC"/>
                </a:solidFill>
                <a:latin typeface="Times New Roman" panose="02020603050405020304" pitchFamily="18" charset="0"/>
                <a:ea typeface="Maragsa"/>
                <a:cs typeface="Times New Roman" panose="02020603050405020304" pitchFamily="18" charset="0"/>
                <a:sym typeface="Maragsa"/>
              </a:rPr>
              <a:t>03</a:t>
            </a:r>
          </a:p>
        </p:txBody>
      </p:sp>
      <p:sp>
        <p:nvSpPr>
          <p:cNvPr id="20" name="TextBox 20">
            <a:extLst>
              <a:ext uri="{FF2B5EF4-FFF2-40B4-BE49-F238E27FC236}">
                <a16:creationId xmlns:a16="http://schemas.microsoft.com/office/drawing/2014/main" id="{46EF4FF4-7E8A-FA66-BFDC-F2CCD9BC1FB0}"/>
              </a:ext>
            </a:extLst>
          </p:cNvPr>
          <p:cNvSpPr txBox="1"/>
          <p:nvPr/>
        </p:nvSpPr>
        <p:spPr>
          <a:xfrm>
            <a:off x="10033225" y="5880019"/>
            <a:ext cx="3225575" cy="411138"/>
          </a:xfrm>
          <a:prstGeom prst="rect">
            <a:avLst/>
          </a:prstGeom>
        </p:spPr>
        <p:txBody>
          <a:bodyPr wrap="square" lIns="0" tIns="0" rIns="0" bIns="0" rtlCol="0" anchor="t">
            <a:spAutoFit/>
          </a:bodyPr>
          <a:lstStyle/>
          <a:p>
            <a:pPr algn="l">
              <a:lnSpc>
                <a:spcPts val="3359"/>
              </a:lnSpc>
            </a:pPr>
            <a:r>
              <a:rPr lang="en-US" sz="2799"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Model Enhancement</a:t>
            </a:r>
          </a:p>
        </p:txBody>
      </p:sp>
      <p:grpSp>
        <p:nvGrpSpPr>
          <p:cNvPr id="21" name="Group 21">
            <a:extLst>
              <a:ext uri="{FF2B5EF4-FFF2-40B4-BE49-F238E27FC236}">
                <a16:creationId xmlns:a16="http://schemas.microsoft.com/office/drawing/2014/main" id="{00598127-16CE-4652-7365-3D229E5EE21A}"/>
              </a:ext>
            </a:extLst>
          </p:cNvPr>
          <p:cNvGrpSpPr/>
          <p:nvPr/>
        </p:nvGrpSpPr>
        <p:grpSpPr>
          <a:xfrm>
            <a:off x="8665368" y="7008116"/>
            <a:ext cx="5736432" cy="826231"/>
            <a:chOff x="0" y="0"/>
            <a:chExt cx="1090119" cy="217608"/>
          </a:xfrm>
        </p:grpSpPr>
        <p:sp>
          <p:nvSpPr>
            <p:cNvPr id="22" name="Freeform 22">
              <a:extLst>
                <a:ext uri="{FF2B5EF4-FFF2-40B4-BE49-F238E27FC236}">
                  <a16:creationId xmlns:a16="http://schemas.microsoft.com/office/drawing/2014/main" id="{156E55AD-5EFB-5037-5EAA-20036EE88AC4}"/>
                </a:ext>
              </a:extLst>
            </p:cNvPr>
            <p:cNvSpPr/>
            <p:nvPr/>
          </p:nvSpPr>
          <p:spPr>
            <a:xfrm>
              <a:off x="0" y="0"/>
              <a:ext cx="1090119" cy="217608"/>
            </a:xfrm>
            <a:custGeom>
              <a:avLst/>
              <a:gdLst/>
              <a:ahLst/>
              <a:cxnLst/>
              <a:rect l="l" t="t" r="r" b="b"/>
              <a:pathLst>
                <a:path w="1090119" h="217608">
                  <a:moveTo>
                    <a:pt x="28057" y="0"/>
                  </a:moveTo>
                  <a:lnTo>
                    <a:pt x="1062062" y="0"/>
                  </a:lnTo>
                  <a:cubicBezTo>
                    <a:pt x="1077557" y="0"/>
                    <a:pt x="1090119" y="12562"/>
                    <a:pt x="1090119" y="28057"/>
                  </a:cubicBezTo>
                  <a:lnTo>
                    <a:pt x="1090119" y="189551"/>
                  </a:lnTo>
                  <a:cubicBezTo>
                    <a:pt x="1090119" y="196992"/>
                    <a:pt x="1087163" y="204129"/>
                    <a:pt x="1081901" y="209391"/>
                  </a:cubicBezTo>
                  <a:cubicBezTo>
                    <a:pt x="1076640" y="214652"/>
                    <a:pt x="1069503" y="217608"/>
                    <a:pt x="1062062" y="217608"/>
                  </a:cubicBezTo>
                  <a:lnTo>
                    <a:pt x="28057" y="217608"/>
                  </a:lnTo>
                  <a:cubicBezTo>
                    <a:pt x="12562" y="217608"/>
                    <a:pt x="0" y="205047"/>
                    <a:pt x="0" y="189551"/>
                  </a:cubicBezTo>
                  <a:lnTo>
                    <a:pt x="0" y="28057"/>
                  </a:lnTo>
                  <a:cubicBezTo>
                    <a:pt x="0" y="20616"/>
                    <a:pt x="2956" y="13479"/>
                    <a:pt x="8218" y="8218"/>
                  </a:cubicBezTo>
                  <a:cubicBezTo>
                    <a:pt x="13479" y="2956"/>
                    <a:pt x="20616" y="0"/>
                    <a:pt x="28057" y="0"/>
                  </a:cubicBezTo>
                  <a:close/>
                </a:path>
              </a:pathLst>
            </a:custGeom>
            <a:solidFill>
              <a:srgbClr val="E2A9DD"/>
            </a:solidFill>
          </p:spPr>
          <p:txBody>
            <a:bodyPr/>
            <a:lstStyle/>
            <a:p>
              <a:endParaRPr lang="en-US">
                <a:latin typeface="Times New Roman" panose="02020603050405020304" pitchFamily="18" charset="0"/>
                <a:cs typeface="Times New Roman" panose="02020603050405020304" pitchFamily="18" charset="0"/>
              </a:endParaRPr>
            </a:p>
          </p:txBody>
        </p:sp>
        <p:sp>
          <p:nvSpPr>
            <p:cNvPr id="23" name="TextBox 23">
              <a:extLst>
                <a:ext uri="{FF2B5EF4-FFF2-40B4-BE49-F238E27FC236}">
                  <a16:creationId xmlns:a16="http://schemas.microsoft.com/office/drawing/2014/main" id="{69155AE6-4F7B-6B7E-B682-FD61890134F5}"/>
                </a:ext>
              </a:extLst>
            </p:cNvPr>
            <p:cNvSpPr txBox="1"/>
            <p:nvPr/>
          </p:nvSpPr>
          <p:spPr>
            <a:xfrm>
              <a:off x="0" y="0"/>
              <a:ext cx="1090119" cy="217608"/>
            </a:xfrm>
            <a:prstGeom prst="rect">
              <a:avLst/>
            </a:prstGeom>
          </p:spPr>
          <p:txBody>
            <a:bodyPr lIns="50800" tIns="50800" rIns="50800" bIns="50800" rtlCol="0" anchor="ctr"/>
            <a:lstStyle/>
            <a:p>
              <a:pPr algn="ctr">
                <a:lnSpc>
                  <a:spcPts val="2879"/>
                </a:lnSpc>
              </a:pPr>
              <a:endParaRPr>
                <a:latin typeface="Times New Roman" panose="02020603050405020304" pitchFamily="18" charset="0"/>
                <a:cs typeface="Times New Roman" panose="02020603050405020304" pitchFamily="18" charset="0"/>
              </a:endParaRPr>
            </a:p>
          </p:txBody>
        </p:sp>
      </p:grpSp>
      <p:sp>
        <p:nvSpPr>
          <p:cNvPr id="24" name="TextBox 24">
            <a:extLst>
              <a:ext uri="{FF2B5EF4-FFF2-40B4-BE49-F238E27FC236}">
                <a16:creationId xmlns:a16="http://schemas.microsoft.com/office/drawing/2014/main" id="{2C987B4B-0155-8496-E1C2-DCAF68797055}"/>
              </a:ext>
            </a:extLst>
          </p:cNvPr>
          <p:cNvSpPr txBox="1"/>
          <p:nvPr/>
        </p:nvSpPr>
        <p:spPr>
          <a:xfrm>
            <a:off x="8903364" y="7141196"/>
            <a:ext cx="830611" cy="615553"/>
          </a:xfrm>
          <a:prstGeom prst="rect">
            <a:avLst/>
          </a:prstGeom>
        </p:spPr>
        <p:txBody>
          <a:bodyPr lIns="0" tIns="0" rIns="0" bIns="0" rtlCol="0" anchor="t">
            <a:spAutoFit/>
          </a:bodyPr>
          <a:lstStyle/>
          <a:p>
            <a:pPr algn="ctr">
              <a:lnSpc>
                <a:spcPts val="4800"/>
              </a:lnSpc>
            </a:pPr>
            <a:r>
              <a:rPr lang="en-US" sz="4800" spc="192">
                <a:solidFill>
                  <a:srgbClr val="5B19EC"/>
                </a:solidFill>
                <a:latin typeface="Times New Roman" panose="02020603050405020304" pitchFamily="18" charset="0"/>
                <a:ea typeface="Maragsa"/>
                <a:cs typeface="Times New Roman" panose="02020603050405020304" pitchFamily="18" charset="0"/>
                <a:sym typeface="Maragsa"/>
              </a:rPr>
              <a:t>04</a:t>
            </a:r>
          </a:p>
        </p:txBody>
      </p:sp>
      <p:sp>
        <p:nvSpPr>
          <p:cNvPr id="25" name="TextBox 25">
            <a:extLst>
              <a:ext uri="{FF2B5EF4-FFF2-40B4-BE49-F238E27FC236}">
                <a16:creationId xmlns:a16="http://schemas.microsoft.com/office/drawing/2014/main" id="{9F59AE40-3CEA-AB8C-319C-09AA0E577993}"/>
              </a:ext>
            </a:extLst>
          </p:cNvPr>
          <p:cNvSpPr txBox="1"/>
          <p:nvPr/>
        </p:nvSpPr>
        <p:spPr>
          <a:xfrm>
            <a:off x="10038818" y="7202156"/>
            <a:ext cx="2838982" cy="411138"/>
          </a:xfrm>
          <a:prstGeom prst="rect">
            <a:avLst/>
          </a:prstGeom>
        </p:spPr>
        <p:txBody>
          <a:bodyPr wrap="square" lIns="0" tIns="0" rIns="0" bIns="0" rtlCol="0" anchor="t">
            <a:spAutoFit/>
          </a:bodyPr>
          <a:lstStyle/>
          <a:p>
            <a:pPr algn="l">
              <a:lnSpc>
                <a:spcPts val="3359"/>
              </a:lnSpc>
            </a:pPr>
            <a:r>
              <a:rPr lang="en-US" sz="2799" b="1" spc="-139" dirty="0">
                <a:solidFill>
                  <a:srgbClr val="2E2E2E"/>
                </a:solidFill>
                <a:latin typeface="Times New Roman" panose="02020603050405020304" pitchFamily="18" charset="0"/>
                <a:ea typeface="Quattrocento Bold"/>
                <a:cs typeface="Times New Roman" panose="02020603050405020304" pitchFamily="18" charset="0"/>
                <a:sym typeface="Quattrocento Bold"/>
              </a:rPr>
              <a:t>Alternative Models</a:t>
            </a:r>
          </a:p>
        </p:txBody>
      </p:sp>
      <p:sp>
        <p:nvSpPr>
          <p:cNvPr id="47" name="TextBox 46">
            <a:extLst>
              <a:ext uri="{FF2B5EF4-FFF2-40B4-BE49-F238E27FC236}">
                <a16:creationId xmlns:a16="http://schemas.microsoft.com/office/drawing/2014/main" id="{92D243FD-1B53-DABA-A143-1CE295708D32}"/>
              </a:ext>
            </a:extLst>
          </p:cNvPr>
          <p:cNvSpPr txBox="1"/>
          <p:nvPr/>
        </p:nvSpPr>
        <p:spPr>
          <a:xfrm>
            <a:off x="17830800" y="9833943"/>
            <a:ext cx="418704" cy="369332"/>
          </a:xfrm>
          <a:prstGeom prst="rect">
            <a:avLst/>
          </a:prstGeom>
          <a:noFill/>
        </p:spPr>
        <p:txBody>
          <a:bodyPr wrap="none" rtlCol="0">
            <a:spAutoFit/>
          </a:bodyPr>
          <a:lstStyle/>
          <a:p>
            <a:r>
              <a:rPr lang="en-US" dirty="0"/>
              <a:t>22</a:t>
            </a:r>
          </a:p>
        </p:txBody>
      </p:sp>
    </p:spTree>
    <p:extLst>
      <p:ext uri="{BB962C8B-B14F-4D97-AF65-F5344CB8AC3E}">
        <p14:creationId xmlns:p14="http://schemas.microsoft.com/office/powerpoint/2010/main" val="37685687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5">
            <a:extLst>
              <a:ext uri="{FF2B5EF4-FFF2-40B4-BE49-F238E27FC236}">
                <a16:creationId xmlns:a16="http://schemas.microsoft.com/office/drawing/2014/main" id="{395E82DF-425E-54AD-C5E4-032D527F0E34}"/>
              </a:ext>
            </a:extLst>
          </p:cNvPr>
          <p:cNvSpPr txBox="1"/>
          <p:nvPr/>
        </p:nvSpPr>
        <p:spPr>
          <a:xfrm>
            <a:off x="5267870" y="9727898"/>
            <a:ext cx="7752260" cy="212090"/>
          </a:xfrm>
          <a:prstGeom prst="rect">
            <a:avLst/>
          </a:prstGeom>
        </p:spPr>
        <p:txBody>
          <a:bodyPr lIns="0" tIns="0" rIns="0" bIns="0" rtlCol="0" anchor="t">
            <a:spAutoFit/>
          </a:bodyPr>
          <a:lstStyle/>
          <a:p>
            <a:pPr algn="ctr">
              <a:lnSpc>
                <a:spcPts val="1599"/>
              </a:lnSpc>
            </a:pPr>
            <a:r>
              <a:rPr lang="en-US" sz="1599" b="1" spc="63" dirty="0">
                <a:solidFill>
                  <a:srgbClr val="FC6233"/>
                </a:solidFill>
                <a:latin typeface="Times New Roman" panose="02020603050405020304" pitchFamily="18" charset="0"/>
                <a:ea typeface="Maragsa"/>
                <a:cs typeface="Times New Roman" panose="02020603050405020304" pitchFamily="18" charset="0"/>
                <a:sym typeface="Maragsa"/>
              </a:rPr>
              <a:t>UNIVERSITY OF INFORMATION AND TECHNOLOGY </a:t>
            </a:r>
          </a:p>
        </p:txBody>
      </p:sp>
      <p:sp>
        <p:nvSpPr>
          <p:cNvPr id="4" name="TextBox 3">
            <a:extLst>
              <a:ext uri="{FF2B5EF4-FFF2-40B4-BE49-F238E27FC236}">
                <a16:creationId xmlns:a16="http://schemas.microsoft.com/office/drawing/2014/main" id="{3D12AE80-0D72-C2A4-7CB6-299DF046AFD6}"/>
              </a:ext>
            </a:extLst>
          </p:cNvPr>
          <p:cNvSpPr txBox="1"/>
          <p:nvPr/>
        </p:nvSpPr>
        <p:spPr>
          <a:xfrm>
            <a:off x="4419600" y="398395"/>
            <a:ext cx="9144000" cy="307135"/>
          </a:xfrm>
          <a:prstGeom prst="rect">
            <a:avLst/>
          </a:prstGeom>
          <a:noFill/>
        </p:spPr>
        <p:txBody>
          <a:bodyPr wrap="square">
            <a:spAutoFit/>
          </a:bodyPr>
          <a:lstStyle/>
          <a:p>
            <a:pPr algn="ctr">
              <a:lnSpc>
                <a:spcPts val="1599"/>
              </a:lnSpc>
            </a:pPr>
            <a:r>
              <a:rPr lang="en-US" sz="1800" spc="63" dirty="0">
                <a:solidFill>
                  <a:srgbClr val="FC6233"/>
                </a:solidFill>
                <a:latin typeface="Times New Roman" panose="02020603050405020304" pitchFamily="18" charset="0"/>
                <a:ea typeface="Maragsa"/>
                <a:cs typeface="Times New Roman" panose="02020603050405020304" pitchFamily="18" charset="0"/>
                <a:sym typeface="Maragsa"/>
              </a:rPr>
              <a:t>Demand Forecasting in the Food Delivery Industry</a:t>
            </a:r>
          </a:p>
        </p:txBody>
      </p:sp>
      <p:sp>
        <p:nvSpPr>
          <p:cNvPr id="6" name="TextBox 5">
            <a:extLst>
              <a:ext uri="{FF2B5EF4-FFF2-40B4-BE49-F238E27FC236}">
                <a16:creationId xmlns:a16="http://schemas.microsoft.com/office/drawing/2014/main" id="{38142714-7F81-2916-634C-D56CB2BAF83A}"/>
              </a:ext>
            </a:extLst>
          </p:cNvPr>
          <p:cNvSpPr txBox="1"/>
          <p:nvPr/>
        </p:nvSpPr>
        <p:spPr>
          <a:xfrm>
            <a:off x="4572000" y="4305300"/>
            <a:ext cx="9144000" cy="1015663"/>
          </a:xfrm>
          <a:prstGeom prst="rect">
            <a:avLst/>
          </a:prstGeom>
          <a:noFill/>
        </p:spPr>
        <p:txBody>
          <a:bodyPr wrap="square">
            <a:spAutoFit/>
          </a:bodyPr>
          <a:lstStyle/>
          <a:p>
            <a:pPr algn="ctr">
              <a:lnSpc>
                <a:spcPts val="7200"/>
              </a:lnSpc>
            </a:pPr>
            <a:r>
              <a:rPr lang="en-US" sz="6000" spc="288" dirty="0">
                <a:solidFill>
                  <a:srgbClr val="5B19EC"/>
                </a:solidFill>
                <a:latin typeface="Times New Roman" panose="02020603050405020304" pitchFamily="18" charset="0"/>
                <a:ea typeface="Maragsa"/>
                <a:cs typeface="Times New Roman" panose="02020603050405020304" pitchFamily="18" charset="0"/>
                <a:sym typeface="Maragsa"/>
              </a:rPr>
              <a:t>Thanks for listening</a:t>
            </a:r>
          </a:p>
        </p:txBody>
      </p:sp>
    </p:spTree>
    <p:extLst>
      <p:ext uri="{BB962C8B-B14F-4D97-AF65-F5344CB8AC3E}">
        <p14:creationId xmlns:p14="http://schemas.microsoft.com/office/powerpoint/2010/main" val="16708255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509</TotalTime>
  <Words>880</Words>
  <Application>Microsoft Office PowerPoint</Application>
  <PresentationFormat>Custom</PresentationFormat>
  <Paragraphs>181</Paragraphs>
  <Slides>23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Times New Roman</vt:lpstr>
      <vt:lpstr>Symbol</vt:lpstr>
      <vt:lpstr>Courier New</vt:lpstr>
      <vt:lpstr>Arial</vt:lpstr>
      <vt:lpstr>Calibri</vt:lpstr>
      <vt:lpstr>Aptos</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LINEAR REGRESSION Model</vt:lpstr>
      <vt:lpstr>LINEAR REGRESSION Model</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Copy of Introduction to Taxation</dc:title>
  <dc:creator>Tài Nguyễn</dc:creator>
  <cp:lastModifiedBy>Phạm Duy Tuấn</cp:lastModifiedBy>
  <cp:revision>30</cp:revision>
  <dcterms:created xsi:type="dcterms:W3CDTF">2006-08-16T00:00:00Z</dcterms:created>
  <dcterms:modified xsi:type="dcterms:W3CDTF">2024-11-18T14:39:05Z</dcterms:modified>
  <dc:identifier>DAGWdhCASlY</dc:identifier>
</cp:coreProperties>
</file>